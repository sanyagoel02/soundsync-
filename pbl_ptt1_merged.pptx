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3" r:id="rId4"/>
    <p:sldId id="258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9" d="100"/>
          <a:sy n="119" d="100"/>
        </p:scale>
        <p:origin x="102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9194" y="988819"/>
            <a:ext cx="2178050" cy="195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1079" y="1517291"/>
            <a:ext cx="2697479" cy="694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7802" y="3133522"/>
            <a:ext cx="22732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2378" y="1195928"/>
            <a:ext cx="4450321" cy="96949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dirty="0" smtClean="0">
                <a:latin typeface="Trebuchet MS"/>
                <a:cs typeface="Trebuchet MS"/>
              </a:rPr>
              <a:t>PHASE-I</a:t>
            </a:r>
            <a:r>
              <a:rPr lang="en-US" sz="1700" dirty="0" smtClean="0">
                <a:latin typeface="Trebuchet MS"/>
                <a:cs typeface="Trebuchet MS"/>
              </a:rPr>
              <a:t>I</a:t>
            </a:r>
            <a:r>
              <a:rPr sz="1700" spc="25" dirty="0" smtClean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lang="en-US" sz="1400" b="1" spc="-60" dirty="0" smtClean="0">
                <a:solidFill>
                  <a:srgbClr val="595959"/>
                </a:solidFill>
                <a:latin typeface="Tahoma"/>
                <a:cs typeface="Tahoma"/>
              </a:rPr>
              <a:t>SOUNDSYNC : Smart Music Player</a:t>
            </a:r>
            <a:endParaRPr sz="14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1100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sz="1100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lang="en-US" sz="1100" spc="-45" dirty="0" smtClean="0">
                <a:solidFill>
                  <a:srgbClr val="133768"/>
                </a:solidFill>
                <a:latin typeface="Tahoma"/>
                <a:cs typeface="Tahoma"/>
              </a:rPr>
              <a:t>DSCPP-III-2026-T201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latin typeface="Tahoma"/>
                <a:cs typeface="Tahoma"/>
              </a:rPr>
              <a:t>Department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of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Computer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Science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&amp;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 MT"/>
                <a:cs typeface="Arial MT"/>
              </a:rPr>
              <a:t>Academic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Session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2026–</a:t>
            </a:r>
            <a:r>
              <a:rPr sz="800" spc="-25" dirty="0">
                <a:latin typeface="Arial MT"/>
                <a:cs typeface="Arial MT"/>
              </a:rPr>
              <a:t>27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819694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60" dirty="0"/>
              <a:t>PROJECT-</a:t>
            </a:r>
            <a:r>
              <a:rPr sz="2450" spc="65" dirty="0"/>
              <a:t>BASED</a:t>
            </a:r>
            <a:r>
              <a:rPr sz="2450" spc="-345" dirty="0"/>
              <a:t> </a:t>
            </a:r>
            <a:r>
              <a:rPr sz="2450" spc="-10" dirty="0"/>
              <a:t>LEARNING</a:t>
            </a:r>
            <a:endParaRPr sz="245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Team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5" dirty="0"/>
              <a:t> </a:t>
            </a:r>
            <a:r>
              <a:rPr spc="-20" dirty="0"/>
              <a:t>Mentor</a:t>
            </a:r>
            <a:r>
              <a:rPr spc="20" dirty="0"/>
              <a:t> </a:t>
            </a:r>
            <a:r>
              <a:rPr spc="-45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239367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218371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239367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68117" y="1218371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437982"/>
            <a:ext cx="2520950" cy="802640"/>
            <a:chOff x="309193" y="1414538"/>
            <a:chExt cx="2520950" cy="802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14538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58809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1453323"/>
            <a:ext cx="65151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Tahoma"/>
                <a:cs typeface="Tahoma"/>
              </a:rPr>
              <a:t>Team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ID: </a:t>
            </a:r>
            <a:r>
              <a:rPr sz="1100" b="1" spc="-85" dirty="0">
                <a:latin typeface="Tahoma"/>
                <a:cs typeface="Tahoma"/>
              </a:rPr>
              <a:t>Semester: </a:t>
            </a:r>
            <a:r>
              <a:rPr sz="1100" b="1" spc="-10" dirty="0">
                <a:latin typeface="Tahoma"/>
                <a:cs typeface="Tahoma"/>
              </a:rPr>
              <a:t>Section: Domain: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39" y="1453323"/>
            <a:ext cx="1705164" cy="693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DSCPP-III-2026-T201</a:t>
            </a:r>
            <a:endParaRPr sz="11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2600"/>
              </a:lnSpc>
            </a:pPr>
            <a:r>
              <a:rPr sz="1100" spc="-2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3rd</a:t>
            </a:r>
            <a:r>
              <a:rPr sz="1100" spc="-2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en-US" sz="1100" spc="-25" dirty="0" smtClean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2600"/>
              </a:lnSpc>
            </a:pPr>
            <a:r>
              <a:rPr lang="en-US" sz="1100" spc="-25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 , E , ML-1</a:t>
            </a:r>
          </a:p>
          <a:p>
            <a:pPr marL="12700" marR="5080">
              <a:lnSpc>
                <a:spcPct val="102600"/>
              </a:lnSpc>
            </a:pPr>
            <a:r>
              <a:rPr lang="en-US" sz="1100" spc="-25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DSA &amp; OOPs with C++</a:t>
            </a:r>
            <a:endParaRPr sz="11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414538"/>
            <a:ext cx="2520950" cy="726440"/>
            <a:chOff x="2930016" y="1414538"/>
            <a:chExt cx="2520950" cy="7264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14538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58802"/>
              <a:ext cx="2520950" cy="682625"/>
            </a:xfrm>
            <a:custGeom>
              <a:avLst/>
              <a:gdLst/>
              <a:ahLst/>
              <a:cxnLst/>
              <a:rect l="l" t="t" r="r" b="b"/>
              <a:pathLst>
                <a:path w="2520950" h="682625">
                  <a:moveTo>
                    <a:pt x="2520810" y="0"/>
                  </a:moveTo>
                  <a:lnTo>
                    <a:pt x="0" y="0"/>
                  </a:lnTo>
                  <a:lnTo>
                    <a:pt x="0" y="631376"/>
                  </a:lnTo>
                  <a:lnTo>
                    <a:pt x="4008" y="651100"/>
                  </a:lnTo>
                  <a:lnTo>
                    <a:pt x="14922" y="667253"/>
                  </a:lnTo>
                  <a:lnTo>
                    <a:pt x="31075" y="678167"/>
                  </a:lnTo>
                  <a:lnTo>
                    <a:pt x="50800" y="682176"/>
                  </a:lnTo>
                  <a:lnTo>
                    <a:pt x="2470010" y="682176"/>
                  </a:lnTo>
                  <a:lnTo>
                    <a:pt x="2489735" y="678167"/>
                  </a:lnTo>
                  <a:lnTo>
                    <a:pt x="2505888" y="667253"/>
                  </a:lnTo>
                  <a:lnTo>
                    <a:pt x="2516802" y="651100"/>
                  </a:lnTo>
                  <a:lnTo>
                    <a:pt x="2520810" y="63137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68117" y="1429091"/>
            <a:ext cx="2476197" cy="5193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US" sz="1100" spc="-3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Sanya</a:t>
            </a:r>
            <a:r>
              <a:rPr lang="en-US" sz="1100" spc="-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spc="-3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</a:t>
            </a:r>
            <a:r>
              <a:rPr lang="en-US" sz="1100" spc="-3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oel</a:t>
            </a:r>
            <a:r>
              <a:rPr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sz="11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2510010795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US" sz="1100" spc="-2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Manvi</a:t>
            </a:r>
            <a:r>
              <a:rPr lang="en-US" sz="11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Arora </a:t>
            </a:r>
            <a:r>
              <a:rPr sz="1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2510010232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US" sz="1100" spc="-2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Eshu</a:t>
            </a:r>
            <a:r>
              <a:rPr lang="en-US" sz="11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Ram</a:t>
            </a:r>
            <a:r>
              <a:rPr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sz="11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2510011472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2377414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7294" y="2356418"/>
            <a:ext cx="47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193" y="2574834"/>
            <a:ext cx="5142230" cy="252729"/>
            <a:chOff x="309193" y="2552585"/>
            <a:chExt cx="5142230" cy="252729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2585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596859"/>
              <a:ext cx="5142230" cy="208279"/>
            </a:xfrm>
            <a:custGeom>
              <a:avLst/>
              <a:gdLst/>
              <a:ahLst/>
              <a:cxnLst/>
              <a:rect l="l" t="t" r="r" b="b"/>
              <a:pathLst>
                <a:path w="5142230" h="208280">
                  <a:moveTo>
                    <a:pt x="51416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5090865" y="208279"/>
                  </a:lnTo>
                  <a:lnTo>
                    <a:pt x="5110590" y="204270"/>
                  </a:lnTo>
                  <a:lnTo>
                    <a:pt x="5126743" y="193356"/>
                  </a:lnTo>
                  <a:lnTo>
                    <a:pt x="5137657" y="177203"/>
                  </a:lnTo>
                  <a:lnTo>
                    <a:pt x="5141666" y="15747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7294" y="2574834"/>
            <a:ext cx="1847214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Mr. </a:t>
            </a:r>
            <a:r>
              <a:rPr lang="en-US" sz="11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Abhinav</a:t>
            </a:r>
            <a:r>
              <a:rPr lang="en-US" sz="1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Kotnala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02154" y="2574834"/>
            <a:ext cx="204216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28825" algn="l"/>
              </a:tabLst>
            </a:pPr>
            <a:r>
              <a:rPr sz="1100" b="1" spc="-75" dirty="0">
                <a:latin typeface="Tahoma"/>
                <a:cs typeface="Tahoma"/>
              </a:rPr>
              <a:t>Interactions</a:t>
            </a:r>
            <a:r>
              <a:rPr sz="1100" b="1" dirty="0">
                <a:latin typeface="Tahoma"/>
                <a:cs typeface="Tahoma"/>
              </a:rPr>
              <a:t> completed:</a:t>
            </a:r>
            <a:r>
              <a:rPr sz="1100" b="1" spc="150" dirty="0">
                <a:latin typeface="Tahoma"/>
                <a:cs typeface="Tahoma"/>
              </a:rPr>
              <a:t> </a:t>
            </a:r>
            <a:r>
              <a:rPr lang="en-US" sz="1100" b="1" spc="150" dirty="0">
                <a:latin typeface="Tahoma"/>
                <a:cs typeface="Tahoma"/>
              </a:rPr>
              <a:t>6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95300" y="3143250"/>
            <a:ext cx="31153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78113" y="3133522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0E294E"/>
                </a:solidFill>
                <a:latin typeface="Arial MT"/>
                <a:cs typeface="Arial MT"/>
              </a:rPr>
              <a:t>2/10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459300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Phase-I</a:t>
            </a:r>
            <a:r>
              <a:rPr spc="125" dirty="0"/>
              <a:t> </a:t>
            </a:r>
            <a:r>
              <a:rPr dirty="0"/>
              <a:t>Recap</a:t>
            </a:r>
            <a:r>
              <a:rPr spc="125" dirty="0"/>
              <a:t> </a:t>
            </a:r>
            <a:r>
              <a:rPr spc="135" dirty="0"/>
              <a:t>&amp;</a:t>
            </a:r>
            <a:r>
              <a:rPr spc="130" dirty="0"/>
              <a:t> </a:t>
            </a:r>
            <a:r>
              <a:rPr dirty="0"/>
              <a:t>Feedback</a:t>
            </a:r>
            <a:r>
              <a:rPr spc="125" dirty="0"/>
              <a:t> </a:t>
            </a:r>
            <a:r>
              <a:rPr spc="-15" dirty="0"/>
              <a:t>Incorporated</a:t>
            </a:r>
          </a:p>
        </p:txBody>
      </p:sp>
      <p:sp>
        <p:nvSpPr>
          <p:cNvPr id="3" name="object 3"/>
          <p:cNvSpPr/>
          <p:nvPr/>
        </p:nvSpPr>
        <p:spPr>
          <a:xfrm>
            <a:off x="321894" y="7080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8812" y="818164"/>
            <a:ext cx="5142230" cy="847881"/>
            <a:chOff x="309193" y="983030"/>
            <a:chExt cx="5142230" cy="756920"/>
          </a:xfrm>
        </p:grpSpPr>
        <p:sp>
          <p:nvSpPr>
            <p:cNvPr id="5" name="object 5"/>
            <p:cNvSpPr/>
            <p:nvPr/>
          </p:nvSpPr>
          <p:spPr>
            <a:xfrm>
              <a:off x="309193" y="983030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58201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202480"/>
              <a:ext cx="5142230" cy="537210"/>
            </a:xfrm>
            <a:custGeom>
              <a:avLst/>
              <a:gdLst/>
              <a:ahLst/>
              <a:cxnLst/>
              <a:rect l="l" t="t" r="r" b="b"/>
              <a:pathLst>
                <a:path w="5142230" h="537210">
                  <a:moveTo>
                    <a:pt x="5141666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5090865" y="537039"/>
                  </a:lnTo>
                  <a:lnTo>
                    <a:pt x="5110590" y="533030"/>
                  </a:lnTo>
                  <a:lnTo>
                    <a:pt x="5126743" y="522116"/>
                  </a:lnTo>
                  <a:lnTo>
                    <a:pt x="5137657" y="505963"/>
                  </a:lnTo>
                  <a:lnTo>
                    <a:pt x="5141666" y="48623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53039" y="727695"/>
            <a:ext cx="5084763" cy="72660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dirty="0" smtClean="0">
                <a:solidFill>
                  <a:schemeClr val="tx2">
                    <a:lumMod val="75000"/>
                  </a:schemeClr>
                </a:solidFill>
                <a:latin typeface="Arial MT"/>
              </a:rPr>
              <a:t>Phase-I</a:t>
            </a:r>
            <a:r>
              <a:rPr lang="en-US" spc="155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sz="1200" spc="-10" dirty="0" smtClean="0">
                <a:solidFill>
                  <a:schemeClr val="tx2">
                    <a:lumMod val="75000"/>
                  </a:schemeClr>
                </a:solidFill>
                <a:latin typeface="Arial MT"/>
              </a:rPr>
              <a:t>Status</a:t>
            </a:r>
            <a:endParaRPr sz="1200" spc="-10" dirty="0">
              <a:solidFill>
                <a:schemeClr val="tx2">
                  <a:lumMod val="75000"/>
                </a:schemeClr>
              </a:solidFill>
              <a:latin typeface="Arial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lang="en-US" sz="1200" spc="-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Phase-I established the basic design of </a:t>
            </a:r>
            <a:r>
              <a:rPr lang="en-US" sz="1200" spc="-7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SoundSync</a:t>
            </a:r>
            <a:r>
              <a:rPr lang="en-US" sz="1200" spc="-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 song library management, playlist organization, C++ OOP concepts, data structures, and file </a:t>
            </a:r>
            <a:r>
              <a:rPr lang="en-US" sz="1200" spc="-7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180" y="1741380"/>
            <a:ext cx="2332355" cy="8842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b="1" spc="-2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Feedback</a:t>
            </a:r>
            <a:r>
              <a:rPr sz="1200" b="1" spc="1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Received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2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sz="12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2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6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1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2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sz="12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z="12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sz="1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2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sz="12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thorough</a:t>
            </a:r>
            <a:r>
              <a:rPr sz="12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6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2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59100" y="1741380"/>
            <a:ext cx="2417572" cy="11968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b="1" spc="-2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Changes</a:t>
            </a:r>
            <a:r>
              <a:rPr sz="1200" b="1" spc="1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Incorporated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5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</a:t>
            </a:r>
            <a:r>
              <a:rPr sz="1100" spc="-6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304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1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sz="11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72898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sz="11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spc="-20" dirty="0"/>
              <a:t>3</a:t>
            </a:fld>
            <a:r>
              <a:rPr spc="-2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7858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Problem</a:t>
            </a:r>
            <a:r>
              <a:rPr spc="35" dirty="0"/>
              <a:t> </a:t>
            </a:r>
            <a:r>
              <a:rPr spc="-55" dirty="0"/>
              <a:t>Statement</a:t>
            </a:r>
            <a:r>
              <a:rPr spc="40" dirty="0"/>
              <a:t> </a:t>
            </a:r>
            <a:r>
              <a:rPr spc="85" dirty="0"/>
              <a:t>&amp;</a:t>
            </a:r>
            <a:r>
              <a:rPr spc="40" dirty="0"/>
              <a:t> </a:t>
            </a:r>
            <a:r>
              <a:rPr lang="en-US" spc="-35" dirty="0" smtClean="0"/>
              <a:t>Finalized Objectives</a:t>
            </a:r>
            <a:endParaRPr spc="-35" dirty="0"/>
          </a:p>
        </p:txBody>
      </p:sp>
      <p:sp>
        <p:nvSpPr>
          <p:cNvPr id="3" name="object 3"/>
          <p:cNvSpPr/>
          <p:nvPr/>
        </p:nvSpPr>
        <p:spPr>
          <a:xfrm>
            <a:off x="347294" y="7080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2100" y="765669"/>
            <a:ext cx="5179864" cy="879673"/>
            <a:chOff x="309193" y="1205953"/>
            <a:chExt cx="5142230" cy="584835"/>
          </a:xfrm>
        </p:grpSpPr>
        <p:sp>
          <p:nvSpPr>
            <p:cNvPr id="5" name="object 5"/>
            <p:cNvSpPr/>
            <p:nvPr/>
          </p:nvSpPr>
          <p:spPr>
            <a:xfrm>
              <a:off x="309193" y="120595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81112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425395"/>
              <a:ext cx="5142230" cy="365125"/>
            </a:xfrm>
            <a:custGeom>
              <a:avLst/>
              <a:gdLst/>
              <a:ahLst/>
              <a:cxnLst/>
              <a:rect l="l" t="t" r="r" b="b"/>
              <a:pathLst>
                <a:path w="5142230" h="365125">
                  <a:moveTo>
                    <a:pt x="51416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090865" y="364962"/>
                  </a:lnTo>
                  <a:lnTo>
                    <a:pt x="5110590" y="360953"/>
                  </a:lnTo>
                  <a:lnTo>
                    <a:pt x="5126743" y="350039"/>
                  </a:lnTo>
                  <a:lnTo>
                    <a:pt x="5137657" y="333886"/>
                  </a:lnTo>
                  <a:lnTo>
                    <a:pt x="5141666" y="31416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7294" y="764456"/>
            <a:ext cx="5103566" cy="82445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sz="1200" spc="3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sz="1200" dirty="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solves the real-world problem of managing growing personal music libraries by providing an organized system for fast song access, personalized playlist management, and efficient music playback.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100" y="1656541"/>
            <a:ext cx="5145702" cy="13022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US" sz="1100" b="1" spc="-10" dirty="0">
                <a:solidFill>
                  <a:srgbClr val="133768"/>
                </a:solidFill>
                <a:latin typeface="Tahoma"/>
                <a:cs typeface="Tahoma"/>
              </a:rPr>
              <a:t>F</a:t>
            </a:r>
            <a:r>
              <a:rPr lang="en-US" sz="1100" b="1" spc="-10" dirty="0" smtClean="0">
                <a:solidFill>
                  <a:srgbClr val="133768"/>
                </a:solidFill>
                <a:latin typeface="Tahoma"/>
                <a:cs typeface="Tahoma"/>
              </a:rPr>
              <a:t>inalized Objective</a:t>
            </a:r>
            <a:r>
              <a:rPr lang="en-US" sz="1100" b="1" spc="-10" dirty="0">
                <a:solidFill>
                  <a:srgbClr val="133768"/>
                </a:solidFill>
                <a:latin typeface="Tahoma"/>
                <a:cs typeface="Tahoma"/>
              </a:rPr>
              <a:t>: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Organized the project into Song, </a:t>
            </a:r>
            <a:r>
              <a:rPr lang="en-US" sz="1200" spc="-2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MusicLibrary</a:t>
            </a: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Playlist, and </a:t>
            </a:r>
            <a:r>
              <a:rPr lang="en-US" sz="1200" spc="-2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MusicPlayer</a:t>
            </a: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modules.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Implemented playlist operations using a Doubly Linked List.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Added song searching and library management features.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2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Included automated tests for core OOP and DSA functionality.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2716" y="1907004"/>
            <a:ext cx="2530415" cy="24044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Updated</a:t>
            </a:r>
            <a:r>
              <a:rPr spc="65" dirty="0"/>
              <a:t> </a:t>
            </a:r>
            <a:r>
              <a:rPr dirty="0"/>
              <a:t>System</a:t>
            </a:r>
            <a:r>
              <a:rPr spc="70" dirty="0"/>
              <a:t> </a:t>
            </a:r>
            <a:r>
              <a:rPr spc="-20" dirty="0"/>
              <a:t>Architecture</a:t>
            </a:r>
            <a:r>
              <a:rPr spc="70" dirty="0"/>
              <a:t> </a:t>
            </a:r>
            <a:r>
              <a:rPr spc="395" dirty="0"/>
              <a:t>/</a:t>
            </a:r>
            <a:r>
              <a:rPr spc="70" dirty="0"/>
              <a:t> </a:t>
            </a:r>
            <a:r>
              <a:rPr spc="-45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79417" y="815511"/>
            <a:ext cx="940435" cy="368935"/>
            <a:chOff x="359986" y="1137052"/>
            <a:chExt cx="940435" cy="368935"/>
          </a:xfrm>
        </p:grpSpPr>
        <p:sp>
          <p:nvSpPr>
            <p:cNvPr id="5" name="object 5"/>
            <p:cNvSpPr/>
            <p:nvPr/>
          </p:nvSpPr>
          <p:spPr>
            <a:xfrm>
              <a:off x="362526" y="1139592"/>
              <a:ext cx="935355" cy="363855"/>
            </a:xfrm>
            <a:custGeom>
              <a:avLst/>
              <a:gdLst/>
              <a:ahLst/>
              <a:cxnLst/>
              <a:rect l="l" t="t" r="r" b="b"/>
              <a:pathLst>
                <a:path w="935355" h="363855">
                  <a:moveTo>
                    <a:pt x="88455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884556" y="363685"/>
                  </a:lnTo>
                  <a:lnTo>
                    <a:pt x="904256" y="359707"/>
                  </a:lnTo>
                  <a:lnTo>
                    <a:pt x="920343" y="348861"/>
                  </a:lnTo>
                  <a:lnTo>
                    <a:pt x="931190" y="332774"/>
                  </a:lnTo>
                  <a:lnTo>
                    <a:pt x="935167" y="313074"/>
                  </a:lnTo>
                  <a:lnTo>
                    <a:pt x="935167" y="50610"/>
                  </a:lnTo>
                  <a:lnTo>
                    <a:pt x="931190" y="30910"/>
                  </a:lnTo>
                  <a:lnTo>
                    <a:pt x="920343" y="14823"/>
                  </a:lnTo>
                  <a:lnTo>
                    <a:pt x="904256" y="3977"/>
                  </a:lnTo>
                  <a:lnTo>
                    <a:pt x="88455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526" y="1139592"/>
              <a:ext cx="935355" cy="363855"/>
            </a:xfrm>
            <a:custGeom>
              <a:avLst/>
              <a:gdLst/>
              <a:ahLst/>
              <a:cxnLst/>
              <a:rect l="l" t="t" r="r" b="b"/>
              <a:pathLst>
                <a:path w="935355" h="363855">
                  <a:moveTo>
                    <a:pt x="88455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884556" y="363685"/>
                  </a:lnTo>
                  <a:lnTo>
                    <a:pt x="904256" y="359707"/>
                  </a:lnTo>
                  <a:lnTo>
                    <a:pt x="920343" y="348861"/>
                  </a:lnTo>
                  <a:lnTo>
                    <a:pt x="931190" y="332774"/>
                  </a:lnTo>
                  <a:lnTo>
                    <a:pt x="935167" y="313074"/>
                  </a:lnTo>
                  <a:lnTo>
                    <a:pt x="935167" y="50610"/>
                  </a:lnTo>
                  <a:lnTo>
                    <a:pt x="931190" y="30910"/>
                  </a:lnTo>
                  <a:lnTo>
                    <a:pt x="920343" y="14823"/>
                  </a:lnTo>
                  <a:lnTo>
                    <a:pt x="904256" y="3977"/>
                  </a:lnTo>
                  <a:lnTo>
                    <a:pt x="88455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3620" y="809729"/>
            <a:ext cx="881071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User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ts val="1200"/>
              </a:lnSpc>
            </a:pPr>
            <a:r>
              <a:rPr sz="1000" spc="105" dirty="0">
                <a:latin typeface="Tahoma"/>
                <a:cs typeface="Tahoma"/>
              </a:rPr>
              <a:t>/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Web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Interface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52140" y="817122"/>
            <a:ext cx="761365" cy="337185"/>
            <a:chOff x="1552217" y="1152868"/>
            <a:chExt cx="761365" cy="337185"/>
          </a:xfrm>
        </p:grpSpPr>
        <p:sp>
          <p:nvSpPr>
            <p:cNvPr id="9" name="object 9"/>
            <p:cNvSpPr/>
            <p:nvPr/>
          </p:nvSpPr>
          <p:spPr>
            <a:xfrm>
              <a:off x="1554757" y="1155408"/>
              <a:ext cx="756285" cy="332105"/>
            </a:xfrm>
            <a:custGeom>
              <a:avLst/>
              <a:gdLst/>
              <a:ahLst/>
              <a:cxnLst/>
              <a:rect l="l" t="t" r="r" b="b"/>
              <a:pathLst>
                <a:path w="756285" h="33210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05400" y="332053"/>
                  </a:lnTo>
                  <a:lnTo>
                    <a:pt x="725101" y="328076"/>
                  </a:lnTo>
                  <a:lnTo>
                    <a:pt x="741188" y="317229"/>
                  </a:lnTo>
                  <a:lnTo>
                    <a:pt x="752034" y="301142"/>
                  </a:lnTo>
                  <a:lnTo>
                    <a:pt x="756011" y="281442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54757" y="1155408"/>
              <a:ext cx="756285" cy="332105"/>
            </a:xfrm>
            <a:custGeom>
              <a:avLst/>
              <a:gdLst/>
              <a:ahLst/>
              <a:cxnLst/>
              <a:rect l="l" t="t" r="r" b="b"/>
              <a:pathLst>
                <a:path w="756285" h="33210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05400" y="332053"/>
                  </a:lnTo>
                  <a:lnTo>
                    <a:pt x="725101" y="328076"/>
                  </a:lnTo>
                  <a:lnTo>
                    <a:pt x="741188" y="317229"/>
                  </a:lnTo>
                  <a:lnTo>
                    <a:pt x="752034" y="301142"/>
                  </a:lnTo>
                  <a:lnTo>
                    <a:pt x="756011" y="281442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34569" y="809729"/>
            <a:ext cx="57787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Input </a:t>
            </a:r>
            <a:r>
              <a:rPr sz="1000" spc="-25" dirty="0">
                <a:latin typeface="Tahoma"/>
                <a:cs typeface="Tahoma"/>
              </a:rPr>
              <a:t>Validation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48333" y="818052"/>
            <a:ext cx="1033595" cy="384376"/>
            <a:chOff x="2565293" y="1140566"/>
            <a:chExt cx="1016635" cy="361950"/>
          </a:xfrm>
        </p:grpSpPr>
        <p:sp>
          <p:nvSpPr>
            <p:cNvPr id="13" name="object 13"/>
            <p:cNvSpPr/>
            <p:nvPr/>
          </p:nvSpPr>
          <p:spPr>
            <a:xfrm>
              <a:off x="2567833" y="1143106"/>
              <a:ext cx="1011555" cy="356870"/>
            </a:xfrm>
            <a:custGeom>
              <a:avLst/>
              <a:gdLst/>
              <a:ahLst/>
              <a:cxnLst/>
              <a:rect l="l" t="t" r="r" b="b"/>
              <a:pathLst>
                <a:path w="1011554" h="356869">
                  <a:moveTo>
                    <a:pt x="96082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960824" y="356656"/>
                  </a:lnTo>
                  <a:lnTo>
                    <a:pt x="980525" y="352678"/>
                  </a:lnTo>
                  <a:lnTo>
                    <a:pt x="996612" y="341832"/>
                  </a:lnTo>
                  <a:lnTo>
                    <a:pt x="1007458" y="325745"/>
                  </a:lnTo>
                  <a:lnTo>
                    <a:pt x="1011435" y="306045"/>
                  </a:lnTo>
                  <a:lnTo>
                    <a:pt x="1011435" y="50610"/>
                  </a:lnTo>
                  <a:lnTo>
                    <a:pt x="1007458" y="30910"/>
                  </a:lnTo>
                  <a:lnTo>
                    <a:pt x="996612" y="14823"/>
                  </a:lnTo>
                  <a:lnTo>
                    <a:pt x="980525" y="3977"/>
                  </a:lnTo>
                  <a:lnTo>
                    <a:pt x="960824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67833" y="1143106"/>
              <a:ext cx="1011555" cy="356870"/>
            </a:xfrm>
            <a:custGeom>
              <a:avLst/>
              <a:gdLst/>
              <a:ahLst/>
              <a:cxnLst/>
              <a:rect l="l" t="t" r="r" b="b"/>
              <a:pathLst>
                <a:path w="1011554" h="356869">
                  <a:moveTo>
                    <a:pt x="960824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960824" y="356656"/>
                  </a:lnTo>
                  <a:lnTo>
                    <a:pt x="980525" y="352678"/>
                  </a:lnTo>
                  <a:lnTo>
                    <a:pt x="996612" y="341832"/>
                  </a:lnTo>
                  <a:lnTo>
                    <a:pt x="1007458" y="325745"/>
                  </a:lnTo>
                  <a:lnTo>
                    <a:pt x="1011435" y="306045"/>
                  </a:lnTo>
                  <a:lnTo>
                    <a:pt x="1011435" y="50610"/>
                  </a:lnTo>
                  <a:lnTo>
                    <a:pt x="1007458" y="30910"/>
                  </a:lnTo>
                  <a:lnTo>
                    <a:pt x="996612" y="14823"/>
                  </a:lnTo>
                  <a:lnTo>
                    <a:pt x="980525" y="3977"/>
                  </a:lnTo>
                  <a:lnTo>
                    <a:pt x="960824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87333" y="818051"/>
            <a:ext cx="95883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C++</a:t>
            </a:r>
            <a:endParaRPr sz="1000" dirty="0">
              <a:latin typeface="Tahoma"/>
              <a:cs typeface="Tahoma"/>
            </a:endParaRPr>
          </a:p>
          <a:p>
            <a:pPr algn="ctr">
              <a:lnSpc>
                <a:spcPts val="1200"/>
              </a:lnSpc>
            </a:pPr>
            <a:r>
              <a:rPr lang="en-US" sz="1000" spc="-10" dirty="0" smtClean="0">
                <a:latin typeface="Tahoma"/>
                <a:cs typeface="Tahoma"/>
              </a:rPr>
              <a:t>Songs</a:t>
            </a:r>
            <a:r>
              <a:rPr sz="1000" spc="-45" dirty="0" smtClean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Modules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19295" y="818051"/>
            <a:ext cx="775863" cy="381679"/>
            <a:chOff x="3833793" y="1156893"/>
            <a:chExt cx="761365" cy="329565"/>
          </a:xfrm>
        </p:grpSpPr>
        <p:sp>
          <p:nvSpPr>
            <p:cNvPr id="17" name="object 17"/>
            <p:cNvSpPr/>
            <p:nvPr/>
          </p:nvSpPr>
          <p:spPr>
            <a:xfrm>
              <a:off x="3836333" y="1159433"/>
              <a:ext cx="756285" cy="324485"/>
            </a:xfrm>
            <a:custGeom>
              <a:avLst/>
              <a:gdLst/>
              <a:ahLst/>
              <a:cxnLst/>
              <a:rect l="l" t="t" r="r" b="b"/>
              <a:pathLst>
                <a:path w="756285" h="324484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3392"/>
                  </a:lnTo>
                  <a:lnTo>
                    <a:pt x="3977" y="293092"/>
                  </a:lnTo>
                  <a:lnTo>
                    <a:pt x="14823" y="309180"/>
                  </a:lnTo>
                  <a:lnTo>
                    <a:pt x="30910" y="320026"/>
                  </a:lnTo>
                  <a:lnTo>
                    <a:pt x="50610" y="324003"/>
                  </a:lnTo>
                  <a:lnTo>
                    <a:pt x="705400" y="324003"/>
                  </a:lnTo>
                  <a:lnTo>
                    <a:pt x="725101" y="320026"/>
                  </a:lnTo>
                  <a:lnTo>
                    <a:pt x="741188" y="309180"/>
                  </a:lnTo>
                  <a:lnTo>
                    <a:pt x="752034" y="293092"/>
                  </a:lnTo>
                  <a:lnTo>
                    <a:pt x="756011" y="273392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6333" y="1159433"/>
              <a:ext cx="756285" cy="324485"/>
            </a:xfrm>
            <a:custGeom>
              <a:avLst/>
              <a:gdLst/>
              <a:ahLst/>
              <a:cxnLst/>
              <a:rect l="l" t="t" r="r" b="b"/>
              <a:pathLst>
                <a:path w="756285" h="324484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3392"/>
                  </a:lnTo>
                  <a:lnTo>
                    <a:pt x="3977" y="293092"/>
                  </a:lnTo>
                  <a:lnTo>
                    <a:pt x="14823" y="309180"/>
                  </a:lnTo>
                  <a:lnTo>
                    <a:pt x="30910" y="320026"/>
                  </a:lnTo>
                  <a:lnTo>
                    <a:pt x="50610" y="324003"/>
                  </a:lnTo>
                  <a:lnTo>
                    <a:pt x="705400" y="324003"/>
                  </a:lnTo>
                  <a:lnTo>
                    <a:pt x="725101" y="320026"/>
                  </a:lnTo>
                  <a:lnTo>
                    <a:pt x="741188" y="309180"/>
                  </a:lnTo>
                  <a:lnTo>
                    <a:pt x="752034" y="293092"/>
                  </a:lnTo>
                  <a:lnTo>
                    <a:pt x="756011" y="273392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55714" y="922931"/>
            <a:ext cx="68674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File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Storage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07992" y="953848"/>
            <a:ext cx="3531235" cy="46990"/>
            <a:chOff x="1300224" y="1298185"/>
            <a:chExt cx="3531235" cy="46990"/>
          </a:xfrm>
        </p:grpSpPr>
        <p:sp>
          <p:nvSpPr>
            <p:cNvPr id="25" name="object 25"/>
            <p:cNvSpPr/>
            <p:nvPr/>
          </p:nvSpPr>
          <p:spPr>
            <a:xfrm>
              <a:off x="1300224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85287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85287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13300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98363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98363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81800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66863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66863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94875" y="1321434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79939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79939" y="1303246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834063" y="818052"/>
            <a:ext cx="774172" cy="381678"/>
            <a:chOff x="4846869" y="1137052"/>
            <a:chExt cx="761365" cy="368935"/>
          </a:xfrm>
        </p:grpSpPr>
        <p:sp>
          <p:nvSpPr>
            <p:cNvPr id="21" name="object 21"/>
            <p:cNvSpPr/>
            <p:nvPr/>
          </p:nvSpPr>
          <p:spPr>
            <a:xfrm>
              <a:off x="4849409" y="1139592"/>
              <a:ext cx="756285" cy="363855"/>
            </a:xfrm>
            <a:custGeom>
              <a:avLst/>
              <a:gdLst/>
              <a:ahLst/>
              <a:cxnLst/>
              <a:rect l="l" t="t" r="r" b="b"/>
              <a:pathLst>
                <a:path w="756285" h="36385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05400" y="363685"/>
                  </a:lnTo>
                  <a:lnTo>
                    <a:pt x="725101" y="359707"/>
                  </a:lnTo>
                  <a:lnTo>
                    <a:pt x="741188" y="348861"/>
                  </a:lnTo>
                  <a:lnTo>
                    <a:pt x="752034" y="332774"/>
                  </a:lnTo>
                  <a:lnTo>
                    <a:pt x="756011" y="313074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9409" y="1139592"/>
              <a:ext cx="756285" cy="363855"/>
            </a:xfrm>
            <a:custGeom>
              <a:avLst/>
              <a:gdLst/>
              <a:ahLst/>
              <a:cxnLst/>
              <a:rect l="l" t="t" r="r" b="b"/>
              <a:pathLst>
                <a:path w="756285" h="36385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05400" y="363685"/>
                  </a:lnTo>
                  <a:lnTo>
                    <a:pt x="725101" y="359707"/>
                  </a:lnTo>
                  <a:lnTo>
                    <a:pt x="741188" y="348861"/>
                  </a:lnTo>
                  <a:lnTo>
                    <a:pt x="752034" y="332774"/>
                  </a:lnTo>
                  <a:lnTo>
                    <a:pt x="756011" y="313074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869821" y="818051"/>
            <a:ext cx="62888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Results</a:t>
            </a:r>
            <a:endParaRPr sz="1000" dirty="0">
              <a:latin typeface="Tahoma"/>
              <a:cs typeface="Tahoma"/>
            </a:endParaRPr>
          </a:p>
          <a:p>
            <a:pPr algn="ctr">
              <a:lnSpc>
                <a:spcPts val="1200"/>
              </a:lnSpc>
            </a:pPr>
            <a:r>
              <a:rPr sz="1000" spc="105" dirty="0">
                <a:latin typeface="Tahoma"/>
                <a:cs typeface="Tahoma"/>
              </a:rPr>
              <a:t>/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Records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8399" y="1346745"/>
            <a:ext cx="2414905" cy="137627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b="1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</a:t>
            </a:r>
            <a:r>
              <a:rPr sz="12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Components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marR="19113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5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1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1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songs </a:t>
            </a:r>
            <a:r>
              <a:rPr sz="1100" spc="-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 management</a:t>
            </a:r>
            <a:r>
              <a:rPr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191135" indent="-177165">
              <a:lnSpc>
                <a:spcPct val="102699"/>
              </a:lnSpc>
              <a:spcBef>
                <a:spcPts val="1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sz="11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sz="1100" spc="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 library and its functions</a:t>
            </a:r>
            <a:r>
              <a:rPr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30480" indent="-177165">
              <a:lnSpc>
                <a:spcPct val="102699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r>
              <a:rPr sz="1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saving</a:t>
            </a:r>
            <a:r>
              <a:rPr sz="1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</a:t>
            </a: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</a:t>
            </a:r>
            <a:r>
              <a:rPr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75733" y="1341956"/>
            <a:ext cx="2404872" cy="119955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b="1" spc="-2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Changes</a:t>
            </a:r>
            <a:r>
              <a:rPr sz="1200" b="1" spc="2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Since</a:t>
            </a:r>
            <a:r>
              <a:rPr sz="1200" b="1" spc="2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Phase-</a:t>
            </a:r>
            <a:r>
              <a:rPr sz="1200" b="1" spc="-5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2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</a:t>
            </a:r>
            <a:r>
              <a:rPr sz="1100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spc="-6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songs access</a:t>
            </a:r>
            <a:r>
              <a:rPr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 Management according to songs, artist are implemented.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292100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coordination</a:t>
            </a:r>
            <a:r>
              <a:rPr sz="11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1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5478113" y="3133522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0E294E"/>
                </a:solidFill>
                <a:latin typeface="Arial"/>
                <a:cs typeface="Arial"/>
              </a:rPr>
              <a:t>5/15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421200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Module</a:t>
            </a:r>
            <a:r>
              <a:rPr spc="114" dirty="0"/>
              <a:t> </a:t>
            </a:r>
            <a:r>
              <a:rPr dirty="0"/>
              <a:t>Design</a:t>
            </a:r>
            <a:r>
              <a:rPr spc="120" dirty="0"/>
              <a:t> </a:t>
            </a:r>
            <a:r>
              <a:rPr spc="135" dirty="0"/>
              <a:t>&amp;</a:t>
            </a:r>
            <a:r>
              <a:rPr spc="120" dirty="0"/>
              <a:t> </a:t>
            </a:r>
            <a:r>
              <a:rPr dirty="0"/>
              <a:t>Functional</a:t>
            </a:r>
            <a:r>
              <a:rPr spc="12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9994" y="707087"/>
            <a:ext cx="2025014" cy="128426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b="1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</a:t>
            </a:r>
            <a:r>
              <a:rPr sz="12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Modules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sz="11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11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1100" spc="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128270" indent="-177165">
              <a:lnSpc>
                <a:spcPct val="102600"/>
              </a:lnSpc>
              <a:spcBef>
                <a:spcPts val="295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lang="en-US" sz="11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100" spc="-1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ongs Management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Library </a:t>
            </a:r>
            <a:r>
              <a:rPr lang="en-US" sz="1100" spc="-5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" spc="-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anagement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1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 </a:t>
            </a:r>
            <a:r>
              <a:rPr lang="en-US"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anagement</a:t>
            </a:r>
            <a:endParaRPr lang="en-US" sz="1100" spc="-1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Player Control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5438" y="709384"/>
            <a:ext cx="2779314" cy="165320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b="1" spc="-2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</a:t>
            </a:r>
            <a:r>
              <a:rPr sz="1200" b="1" spc="1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Requirements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marR="50800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and display song details.</a:t>
            </a:r>
          </a:p>
          <a:p>
            <a:pPr marL="314960" marR="50800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songs by title, artist or ID.</a:t>
            </a:r>
          </a:p>
          <a:p>
            <a:pPr marL="314960" marR="50800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and remove songs from playlists.</a:t>
            </a:r>
          </a:p>
          <a:p>
            <a:pPr marL="314960" marR="50800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Navigate forward and backward through playlists..</a:t>
            </a:r>
          </a:p>
          <a:p>
            <a:pPr marL="314960" marR="50800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playback states: play, pause, resume and stop.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4323" y="2350235"/>
            <a:ext cx="5142230" cy="767080"/>
            <a:chOff x="309193" y="2368676"/>
            <a:chExt cx="5142230" cy="767080"/>
          </a:xfrm>
        </p:grpSpPr>
        <p:sp>
          <p:nvSpPr>
            <p:cNvPr id="7" name="object 7"/>
            <p:cNvSpPr/>
            <p:nvPr/>
          </p:nvSpPr>
          <p:spPr>
            <a:xfrm>
              <a:off x="309193" y="2368676"/>
              <a:ext cx="5142230" cy="198755"/>
            </a:xfrm>
            <a:custGeom>
              <a:avLst/>
              <a:gdLst/>
              <a:ahLst/>
              <a:cxnLst/>
              <a:rect l="l" t="t" r="r" b="b"/>
              <a:pathLst>
                <a:path w="5142230" h="198755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5141666" y="19836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2554389"/>
              <a:ext cx="5141666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9193" y="2598667"/>
              <a:ext cx="5142230" cy="537210"/>
            </a:xfrm>
            <a:custGeom>
              <a:avLst/>
              <a:gdLst/>
              <a:ahLst/>
              <a:cxnLst/>
              <a:rect l="l" t="t" r="r" b="b"/>
              <a:pathLst>
                <a:path w="5142230" h="537210">
                  <a:moveTo>
                    <a:pt x="5141666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5090865" y="537039"/>
                  </a:lnTo>
                  <a:lnTo>
                    <a:pt x="5110590" y="533030"/>
                  </a:lnTo>
                  <a:lnTo>
                    <a:pt x="5126743" y="522116"/>
                  </a:lnTo>
                  <a:lnTo>
                    <a:pt x="5137657" y="505963"/>
                  </a:lnTo>
                  <a:lnTo>
                    <a:pt x="5141666" y="48623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7294" y="2304858"/>
            <a:ext cx="5061585" cy="8013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Module</a:t>
            </a:r>
            <a:r>
              <a:rPr sz="1200" spc="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Dependency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ct val="102600"/>
              </a:lnSpc>
              <a:spcBef>
                <a:spcPts val="265"/>
              </a:spcBef>
            </a:pPr>
            <a:r>
              <a:rPr lang="en-US" sz="1100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Song class provides song data to the </a:t>
            </a:r>
            <a:r>
              <a:rPr lang="en-US" sz="1100" spc="-4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MusicLibrary</a:t>
            </a:r>
            <a:r>
              <a:rPr lang="en-US" sz="1100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Playlist modules. The </a:t>
            </a:r>
            <a:r>
              <a:rPr lang="en-US" sz="1100" spc="-4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MusicPlayer</a:t>
            </a:r>
            <a:r>
              <a:rPr lang="en-US" sz="1100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interacts with songs and an optional active playlist to manage track selection, navigation and playback states. 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459300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Technology</a:t>
            </a:r>
            <a:r>
              <a:rPr spc="60" dirty="0"/>
              <a:t> </a:t>
            </a:r>
            <a:r>
              <a:rPr dirty="0"/>
              <a:t>Stack</a:t>
            </a:r>
            <a:r>
              <a:rPr spc="65" dirty="0"/>
              <a:t> </a:t>
            </a:r>
            <a:r>
              <a:rPr spc="135" dirty="0"/>
              <a:t>&amp;</a:t>
            </a:r>
            <a:r>
              <a:rPr spc="60" dirty="0"/>
              <a:t> </a:t>
            </a:r>
            <a:r>
              <a:rPr spc="-10" dirty="0"/>
              <a:t>Development</a:t>
            </a:r>
            <a:r>
              <a:rPr spc="6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7012" y="768046"/>
            <a:ext cx="2483130" cy="45719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r>
              <a:rPr lang="en-US" dirty="0" err="1" smtClean="0"/>
              <a:t>Thnology</a:t>
            </a:r>
            <a:r>
              <a:rPr lang="en-US" dirty="0" smtClean="0"/>
              <a:t> Stack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47294" y="1079853"/>
            <a:ext cx="1120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Technology</a:t>
            </a:r>
            <a:r>
              <a:rPr sz="1200" spc="-3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Stack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10083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68117" y="1079853"/>
            <a:ext cx="1687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133768"/>
                </a:solidFill>
                <a:latin typeface="Gill Sans MT"/>
                <a:cs typeface="Gill Sans MT"/>
              </a:rPr>
              <a:t>Development</a:t>
            </a:r>
            <a:r>
              <a:rPr sz="1200" spc="1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Methodology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9215" y="733621"/>
            <a:ext cx="2519028" cy="2264659"/>
            <a:chOff x="309193" y="1286560"/>
            <a:chExt cx="2520950" cy="17557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86560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330812"/>
              <a:ext cx="2520950" cy="1711960"/>
            </a:xfrm>
            <a:custGeom>
              <a:avLst/>
              <a:gdLst/>
              <a:ahLst/>
              <a:cxnLst/>
              <a:rect l="l" t="t" r="r" b="b"/>
              <a:pathLst>
                <a:path w="2520950" h="1711960">
                  <a:moveTo>
                    <a:pt x="2520810" y="0"/>
                  </a:moveTo>
                  <a:lnTo>
                    <a:pt x="0" y="0"/>
                  </a:lnTo>
                  <a:lnTo>
                    <a:pt x="0" y="1660621"/>
                  </a:lnTo>
                  <a:lnTo>
                    <a:pt x="4008" y="1680346"/>
                  </a:lnTo>
                  <a:lnTo>
                    <a:pt x="14922" y="1696499"/>
                  </a:lnTo>
                  <a:lnTo>
                    <a:pt x="31075" y="1707413"/>
                  </a:lnTo>
                  <a:lnTo>
                    <a:pt x="50800" y="1711422"/>
                  </a:lnTo>
                  <a:lnTo>
                    <a:pt x="2470010" y="1711422"/>
                  </a:lnTo>
                  <a:lnTo>
                    <a:pt x="2489735" y="1707413"/>
                  </a:lnTo>
                  <a:lnTo>
                    <a:pt x="2505888" y="1696499"/>
                  </a:lnTo>
                  <a:lnTo>
                    <a:pt x="2516802" y="1680346"/>
                  </a:lnTo>
                  <a:lnTo>
                    <a:pt x="2520810" y="1660621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6872" y="733621"/>
            <a:ext cx="2425612" cy="1940468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tabLst>
                <a:tab pos="215265" algn="l"/>
              </a:tabLst>
            </a:pPr>
            <a:r>
              <a:rPr lang="en-US" sz="1200" spc="-35" dirty="0" smtClean="0">
                <a:solidFill>
                  <a:schemeClr val="tx2">
                    <a:lumMod val="75000"/>
                  </a:schemeClr>
                </a:solidFill>
                <a:latin typeface="Tahoma"/>
                <a:cs typeface="Tahoma"/>
              </a:rPr>
              <a:t>Technology Stack</a:t>
            </a:r>
          </a:p>
          <a:p>
            <a:pPr marL="214629" marR="30480" indent="-177165">
              <a:lnSpc>
                <a:spcPct val="102699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lang="en-US" sz="1100" spc="-3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</a:t>
            </a:r>
            <a:r>
              <a:rPr lang="en-US" sz="1100" spc="-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en-US" sz="1100" spc="-45" dirty="0" smtClean="0">
                <a:latin typeface="Tahoma"/>
                <a:cs typeface="Tahoma"/>
              </a:rPr>
              <a:t>:</a:t>
            </a:r>
            <a:r>
              <a:rPr lang="en-US" sz="1100" spc="70" dirty="0" smtClean="0">
                <a:latin typeface="Tahoma"/>
                <a:cs typeface="Tahoma"/>
              </a:rPr>
              <a:t> </a:t>
            </a:r>
            <a:r>
              <a:rPr lang="en-US" sz="1100" i="1" spc="75" dirty="0" smtClean="0">
                <a:solidFill>
                  <a:srgbClr val="595959"/>
                </a:solidFill>
                <a:latin typeface="Arial"/>
                <a:cs typeface="Arial"/>
              </a:rPr>
              <a:t>C/C++</a:t>
            </a:r>
            <a:endParaRPr lang="en-US" sz="1100" dirty="0" smtClean="0">
              <a:latin typeface="Arial"/>
              <a:cs typeface="Arial"/>
            </a:endParaRPr>
          </a:p>
          <a:p>
            <a:pPr marL="214629" marR="30480" indent="-177165">
              <a:lnSpc>
                <a:spcPct val="102699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sz="11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sz="1100" spc="-45" dirty="0">
                <a:latin typeface="Tahoma"/>
                <a:cs typeface="Tahoma"/>
              </a:rPr>
              <a:t>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HTML,</a:t>
            </a:r>
            <a:r>
              <a:rPr sz="11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0" dirty="0">
                <a:solidFill>
                  <a:srgbClr val="595959"/>
                </a:solidFill>
                <a:latin typeface="Arial"/>
                <a:cs typeface="Arial"/>
              </a:rPr>
              <a:t>CSS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 and</a:t>
            </a:r>
            <a:r>
              <a:rPr sz="1100" i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endParaRPr sz="1100" dirty="0">
              <a:latin typeface="Arial"/>
              <a:cs typeface="Arial"/>
            </a:endParaRPr>
          </a:p>
          <a:p>
            <a:pPr marL="214629" marR="498475" indent="-177165">
              <a:lnSpc>
                <a:spcPct val="102699"/>
              </a:lnSpc>
              <a:spcBef>
                <a:spcPts val="195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Concepts: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50" dirty="0">
                <a:solidFill>
                  <a:srgbClr val="595959"/>
                </a:solidFill>
                <a:latin typeface="Arial"/>
                <a:cs typeface="Arial"/>
              </a:rPr>
              <a:t>OOPs,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Structures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Algorithms</a:t>
            </a:r>
            <a:endParaRPr sz="1100" dirty="0">
              <a:latin typeface="Arial"/>
              <a:cs typeface="Arial"/>
            </a:endParaRPr>
          </a:p>
          <a:p>
            <a:pPr marL="214629" marR="69850" indent="-177165">
              <a:lnSpc>
                <a:spcPct val="102699"/>
              </a:lnSpc>
              <a:spcBef>
                <a:spcPts val="200"/>
              </a:spcBef>
              <a:buClr>
                <a:srgbClr val="133768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11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i="1" spc="19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595959"/>
                </a:solidFill>
                <a:latin typeface="Arial"/>
                <a:cs typeface="Arial"/>
              </a:rPr>
              <a:t>Visual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 Studio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endParaRPr sz="1100" dirty="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sz="1100" i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1100" dirty="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100" spc="-10" dirty="0">
                <a:latin typeface="Tahoma"/>
                <a:cs typeface="Tahoma"/>
              </a:rPr>
              <a:t>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Git</a:t>
            </a:r>
            <a:r>
              <a:rPr sz="1100" i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240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GitHub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1286560"/>
            <a:ext cx="2520950" cy="1026794"/>
            <a:chOff x="2930016" y="1286560"/>
            <a:chExt cx="2520950" cy="1026794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86560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330827"/>
              <a:ext cx="2520950" cy="982980"/>
            </a:xfrm>
            <a:custGeom>
              <a:avLst/>
              <a:gdLst/>
              <a:ahLst/>
              <a:cxnLst/>
              <a:rect l="l" t="t" r="r" b="b"/>
              <a:pathLst>
                <a:path w="2520950" h="982980">
                  <a:moveTo>
                    <a:pt x="2520810" y="0"/>
                  </a:moveTo>
                  <a:lnTo>
                    <a:pt x="0" y="0"/>
                  </a:lnTo>
                  <a:lnTo>
                    <a:pt x="0" y="931614"/>
                  </a:lnTo>
                  <a:lnTo>
                    <a:pt x="4008" y="951339"/>
                  </a:lnTo>
                  <a:lnTo>
                    <a:pt x="14922" y="967492"/>
                  </a:lnTo>
                  <a:lnTo>
                    <a:pt x="31075" y="978406"/>
                  </a:lnTo>
                  <a:lnTo>
                    <a:pt x="50800" y="982414"/>
                  </a:lnTo>
                  <a:lnTo>
                    <a:pt x="2470010" y="982414"/>
                  </a:lnTo>
                  <a:lnTo>
                    <a:pt x="2489735" y="978406"/>
                  </a:lnTo>
                  <a:lnTo>
                    <a:pt x="2505888" y="967492"/>
                  </a:lnTo>
                  <a:lnTo>
                    <a:pt x="2516802" y="951339"/>
                  </a:lnTo>
                  <a:lnTo>
                    <a:pt x="2520810" y="93161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68180" y="1269997"/>
            <a:ext cx="1443990" cy="10128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45" dirty="0">
                <a:latin typeface="Tahoma"/>
                <a:cs typeface="Tahoma"/>
              </a:rPr>
              <a:t>Requirement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Analysis</a:t>
            </a:r>
            <a:endParaRPr sz="1100" dirty="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30" dirty="0">
                <a:latin typeface="Tahoma"/>
                <a:cs typeface="Tahoma"/>
              </a:rPr>
              <a:t>System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Design</a:t>
            </a:r>
            <a:endParaRPr sz="1100" dirty="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10" dirty="0">
                <a:latin typeface="Tahoma"/>
                <a:cs typeface="Tahoma"/>
              </a:rPr>
              <a:t>Module</a:t>
            </a:r>
            <a:r>
              <a:rPr sz="1100" spc="-35" dirty="0">
                <a:latin typeface="Tahoma"/>
                <a:cs typeface="Tahoma"/>
              </a:rPr>
              <a:t> Development</a:t>
            </a:r>
            <a:endParaRPr sz="1100" dirty="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10" dirty="0">
                <a:latin typeface="Tahoma"/>
                <a:cs typeface="Tahoma"/>
              </a:rPr>
              <a:t>Integration</a:t>
            </a:r>
            <a:endParaRPr sz="1100" dirty="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sz="1100" spc="-30" dirty="0">
                <a:latin typeface="Tahoma"/>
                <a:cs typeface="Tahoma"/>
              </a:rPr>
              <a:t>Testing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Validation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302841"/>
            <a:ext cx="34601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133768"/>
                </a:solidFill>
                <a:latin typeface="Gill Sans MT"/>
                <a:cs typeface="Gill Sans MT"/>
              </a:rPr>
              <a:t>Implementation</a:t>
            </a:r>
            <a:r>
              <a:rPr sz="1400" b="1" spc="9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400" b="1" dirty="0">
                <a:solidFill>
                  <a:srgbClr val="133768"/>
                </a:solidFill>
                <a:latin typeface="Gill Sans MT"/>
                <a:cs typeface="Gill Sans MT"/>
              </a:rPr>
              <a:t>of</a:t>
            </a:r>
            <a:r>
              <a:rPr sz="1400" b="1" spc="9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400" b="1" dirty="0">
                <a:solidFill>
                  <a:srgbClr val="133768"/>
                </a:solidFill>
                <a:latin typeface="Gill Sans MT"/>
                <a:cs typeface="Gill Sans MT"/>
              </a:rPr>
              <a:t>PBL</a:t>
            </a:r>
            <a:r>
              <a:rPr sz="1400" b="1" spc="9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400" b="1" spc="-25" dirty="0">
                <a:solidFill>
                  <a:srgbClr val="133768"/>
                </a:solidFill>
                <a:latin typeface="Gill Sans MT"/>
                <a:cs typeface="Gill Sans MT"/>
              </a:rPr>
              <a:t>Course</a:t>
            </a:r>
            <a:r>
              <a:rPr sz="1400" b="1" spc="9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400" b="1" spc="-10" dirty="0">
                <a:solidFill>
                  <a:srgbClr val="133768"/>
                </a:solidFill>
                <a:latin typeface="Gill Sans MT"/>
                <a:cs typeface="Gill Sans MT"/>
              </a:rPr>
              <a:t>Concepts</a:t>
            </a:r>
            <a:endParaRPr sz="1400">
              <a:latin typeface="Gill Sans MT"/>
              <a:cs typeface="Gill Sans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657746"/>
              </p:ext>
            </p:extLst>
          </p:nvPr>
        </p:nvGraphicFramePr>
        <p:xfrm>
          <a:off x="460781" y="1185583"/>
          <a:ext cx="4846954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Gill Sans MT"/>
                          <a:cs typeface="Gill Sans MT"/>
                        </a:rPr>
                        <a:t>Course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Concepts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Actually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Implemented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 marR="31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Project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Module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dirty="0">
                          <a:latin typeface="Gill Sans MT"/>
                          <a:cs typeface="Gill Sans MT"/>
                        </a:rPr>
                        <a:t>Data</a:t>
                      </a:r>
                      <a:r>
                        <a:rPr sz="800" b="1" spc="3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spc="-20" dirty="0">
                          <a:latin typeface="Gill Sans MT"/>
                          <a:cs typeface="Gill Sans MT"/>
                        </a:rPr>
                        <a:t>Structures</a:t>
                      </a:r>
                      <a:r>
                        <a:rPr sz="800" b="1" spc="3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dirty="0">
                          <a:latin typeface="Gill Sans MT"/>
                          <a:cs typeface="Gill Sans MT"/>
                        </a:rPr>
                        <a:t>in</a:t>
                      </a:r>
                      <a:r>
                        <a:rPr sz="800" b="1" spc="3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spc="-50" dirty="0">
                          <a:latin typeface="Gill Sans MT"/>
                          <a:cs typeface="Gill Sans MT"/>
                        </a:rPr>
                        <a:t>C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Vectors</a:t>
                      </a:r>
                      <a:r>
                        <a:rPr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i="1" spc="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800" i="1" spc="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Linear</a:t>
                      </a:r>
                      <a:r>
                        <a:rPr lang="en-US" sz="800" i="1" spc="1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Searching</a:t>
                      </a:r>
                      <a:r>
                        <a:rPr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i="1" spc="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800" i="1" spc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Dynamic</a:t>
                      </a:r>
                      <a:r>
                        <a:rPr lang="en-US" sz="800" i="1" spc="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Array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indent="-635">
                        <a:lnSpc>
                          <a:spcPts val="950"/>
                        </a:lnSpc>
                        <a:spcBef>
                          <a:spcPts val="409"/>
                        </a:spcBef>
                      </a:pPr>
                      <a:r>
                        <a:rPr lang="en-US" sz="800" i="1" spc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Music</a:t>
                      </a:r>
                      <a:r>
                        <a:rPr lang="en-US" sz="800" i="1" spc="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Library</a:t>
                      </a:r>
                      <a:r>
                        <a:rPr lang="en-US" sz="800" i="1" spc="305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dirty="0">
                          <a:latin typeface="Gill Sans MT"/>
                          <a:cs typeface="Gill Sans MT"/>
                        </a:rPr>
                        <a:t>Data</a:t>
                      </a:r>
                      <a:r>
                        <a:rPr sz="800" b="1" spc="3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spc="-20" dirty="0">
                          <a:latin typeface="Gill Sans MT"/>
                          <a:cs typeface="Gill Sans MT"/>
                        </a:rPr>
                        <a:t>Structures</a:t>
                      </a:r>
                      <a:r>
                        <a:rPr sz="800" b="1" spc="3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dirty="0">
                          <a:latin typeface="Gill Sans MT"/>
                          <a:cs typeface="Gill Sans MT"/>
                        </a:rPr>
                        <a:t>in</a:t>
                      </a:r>
                      <a:r>
                        <a:rPr sz="800" b="1" spc="3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spc="-50" dirty="0">
                          <a:latin typeface="Gill Sans MT"/>
                          <a:cs typeface="Gill Sans MT"/>
                        </a:rPr>
                        <a:t>C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Doubly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Linked List</a:t>
                      </a:r>
                      <a:r>
                        <a:rPr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800" i="1" spc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Node</a:t>
                      </a:r>
                      <a:r>
                        <a:rPr lang="en-US" sz="800" i="1" spc="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Insertion and Deletion</a:t>
                      </a:r>
                      <a:r>
                        <a:rPr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i="1" spc="-5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800" i="1" spc="-25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Pointer</a:t>
                      </a:r>
                      <a:r>
                        <a:rPr lang="en-US" sz="800" i="1" spc="-25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Traversal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800" i="1" spc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Playlist</a:t>
                      </a:r>
                      <a:r>
                        <a:rPr sz="800" i="1" spc="45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spc="-10" dirty="0">
                          <a:latin typeface="Gill Sans MT"/>
                          <a:cs typeface="Gill Sans MT"/>
                        </a:rPr>
                        <a:t>OOPs</a:t>
                      </a:r>
                      <a:r>
                        <a:rPr sz="800" b="1" dirty="0">
                          <a:latin typeface="Gill Sans MT"/>
                          <a:cs typeface="Gill Sans MT"/>
                        </a:rPr>
                        <a:t> with</a:t>
                      </a:r>
                      <a:r>
                        <a:rPr sz="800" b="1" spc="-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spc="100" dirty="0">
                          <a:latin typeface="Gill Sans MT"/>
                          <a:cs typeface="Gill Sans MT"/>
                        </a:rPr>
                        <a:t>C++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i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Classes,</a:t>
                      </a:r>
                      <a:r>
                        <a:rPr sz="800" i="1" spc="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Objects,</a:t>
                      </a:r>
                      <a:r>
                        <a:rPr sz="800" i="1" spc="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 err="1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Encapsulation</a:t>
                      </a:r>
                      <a:r>
                        <a:rPr lang="en-US" sz="800" i="1" spc="-10" dirty="0" err="1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,Constructors</a:t>
                      </a:r>
                      <a:r>
                        <a:rPr lang="en-US"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and</a:t>
                      </a:r>
                      <a:r>
                        <a:rPr lang="en-US" sz="800" i="1" spc="-1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Getters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1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800" i="1" spc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Song</a:t>
                      </a:r>
                      <a:r>
                        <a:rPr lang="en-US" sz="800" i="1" spc="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spc="-10" dirty="0">
                          <a:latin typeface="Gill Sans MT"/>
                          <a:cs typeface="Gill Sans MT"/>
                        </a:rPr>
                        <a:t>OOPs</a:t>
                      </a:r>
                      <a:r>
                        <a:rPr sz="800" b="1" dirty="0">
                          <a:latin typeface="Gill Sans MT"/>
                          <a:cs typeface="Gill Sans MT"/>
                        </a:rPr>
                        <a:t> with</a:t>
                      </a:r>
                      <a:r>
                        <a:rPr sz="800" b="1" spc="-5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spc="100" dirty="0">
                          <a:latin typeface="Gill Sans MT"/>
                          <a:cs typeface="Gill Sans MT"/>
                        </a:rPr>
                        <a:t>C++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67945">
                        <a:lnSpc>
                          <a:spcPts val="950"/>
                        </a:lnSpc>
                        <a:spcBef>
                          <a:spcPts val="409"/>
                        </a:spcBef>
                      </a:pPr>
                      <a:r>
                        <a:rPr sz="800" i="1" spc="-3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lang="en-US" sz="800" i="1" spc="-3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omposition,</a:t>
                      </a:r>
                      <a:r>
                        <a:rPr lang="en-US" sz="800" i="1" spc="-3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Association, Member Function and State Management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1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Music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Player Control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414093"/>
              </p:ext>
            </p:extLst>
          </p:nvPr>
        </p:nvGraphicFramePr>
        <p:xfrm>
          <a:off x="460781" y="391261"/>
          <a:ext cx="4848224" cy="2069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7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Gill Sans MT"/>
                          <a:cs typeface="Gill Sans MT"/>
                        </a:rPr>
                        <a:t>Module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Gill Sans MT"/>
                          <a:cs typeface="Gill Sans MT"/>
                        </a:rPr>
                        <a:t>Status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040" marR="31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55" dirty="0">
                          <a:latin typeface="Gill Sans MT"/>
                          <a:cs typeface="Gill Sans MT"/>
                        </a:rPr>
                        <a:t>Work</a:t>
                      </a:r>
                      <a:r>
                        <a:rPr sz="800" b="1" dirty="0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800" b="1" spc="-10" dirty="0">
                          <a:latin typeface="Gill Sans MT"/>
                          <a:cs typeface="Gill Sans MT"/>
                        </a:rPr>
                        <a:t>Completed</a:t>
                      </a:r>
                      <a:endParaRPr sz="800">
                        <a:latin typeface="Gill Sans MT"/>
                        <a:cs typeface="Gill Sans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3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sz="800" i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Authentication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800" spc="-10" dirty="0" smtClean="0">
                          <a:latin typeface="Arial"/>
                          <a:cs typeface="Arial"/>
                        </a:rPr>
                        <a:t>In</a:t>
                      </a:r>
                      <a:r>
                        <a:rPr lang="en-US" sz="800" spc="-10" baseline="0" dirty="0" smtClean="0">
                          <a:latin typeface="Arial"/>
                          <a:cs typeface="Arial"/>
                        </a:rPr>
                        <a:t> Progress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0675" marR="31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Login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and</a:t>
                      </a:r>
                      <a:r>
                        <a:rPr sz="800" i="1" spc="2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registration</a:t>
                      </a:r>
                      <a:r>
                        <a:rPr sz="800" i="1" spc="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196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lang="en-US" sz="800" i="1" spc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Song</a:t>
                      </a:r>
                      <a:r>
                        <a:rPr lang="en-US" sz="800" i="1" spc="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Song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details, constructors and getters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77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Music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Library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 marR="3175">
                        <a:lnSpc>
                          <a:spcPts val="955"/>
                        </a:lnSpc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Song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storage, searching and catalog management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474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lang="en-US" sz="800" i="1" spc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Playlist</a:t>
                      </a:r>
                      <a:r>
                        <a:rPr lang="en-US" sz="800" i="1" spc="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 marR="3175">
                        <a:lnSpc>
                          <a:spcPts val="955"/>
                        </a:lnSpc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Doubly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Linked List, insertion and deletion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77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Music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Player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955"/>
                        </a:lnSpc>
                      </a:pPr>
                      <a:r>
                        <a:rPr lang="en-US" sz="800" spc="-10" dirty="0" smtClean="0">
                          <a:latin typeface="Arial"/>
                          <a:cs typeface="Arial"/>
                        </a:rPr>
                        <a:t>In</a:t>
                      </a:r>
                      <a:r>
                        <a:rPr lang="en-US" sz="800" spc="-10" baseline="0" dirty="0" smtClean="0">
                          <a:latin typeface="Arial"/>
                          <a:cs typeface="Arial"/>
                        </a:rPr>
                        <a:t> Progress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 marR="3175">
                        <a:lnSpc>
                          <a:spcPts val="955"/>
                        </a:lnSpc>
                      </a:pPr>
                      <a:r>
                        <a:rPr lang="en-US" sz="800" i="1" spc="-1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Play</a:t>
                      </a:r>
                      <a:r>
                        <a:rPr lang="en-US" sz="800" i="1" spc="-1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, pause, </a:t>
                      </a:r>
                      <a:r>
                        <a:rPr lang="en-US" sz="800" i="1" spc="-10" baseline="0" dirty="0" err="1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resume,stop</a:t>
                      </a:r>
                      <a:r>
                        <a:rPr lang="en-US" sz="800" i="1" spc="-1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and track navigation logic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196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File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Handling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955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Progress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040" marR="3175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Song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loading and playlist saving functionality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438">
                <a:tc>
                  <a:txBody>
                    <a:bodyPr/>
                    <a:lstStyle/>
                    <a:p>
                      <a:pPr>
                        <a:lnSpc>
                          <a:spcPts val="955"/>
                        </a:lnSpc>
                      </a:pPr>
                      <a:r>
                        <a:rPr lang="en-US" sz="800" i="1" spc="-25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Audio</a:t>
                      </a:r>
                      <a:r>
                        <a:rPr lang="en-US" sz="800" i="1" spc="-25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Integration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Pending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040" indent="-635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lang="en-US" sz="800" i="1" spc="-2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Actual</a:t>
                      </a:r>
                      <a:r>
                        <a:rPr lang="en-US" sz="800" i="1" spc="-20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MP3 playback using an audio backend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96900" y="2503828"/>
            <a:ext cx="4556837" cy="135293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800" b="1" spc="-25" dirty="0">
                <a:latin typeface="Gill Sans MT"/>
                <a:cs typeface="Gill Sans MT"/>
              </a:rPr>
              <a:t>Overall</a:t>
            </a:r>
            <a:r>
              <a:rPr sz="800" b="1" spc="20" dirty="0">
                <a:latin typeface="Gill Sans MT"/>
                <a:cs typeface="Gill Sans MT"/>
              </a:rPr>
              <a:t> </a:t>
            </a:r>
            <a:r>
              <a:rPr sz="800" b="1" spc="-20" dirty="0">
                <a:latin typeface="Gill Sans MT"/>
                <a:cs typeface="Gill Sans MT"/>
              </a:rPr>
              <a:t>Completion:</a:t>
            </a:r>
            <a:r>
              <a:rPr sz="800" b="1" spc="90" dirty="0">
                <a:latin typeface="Gill Sans MT"/>
                <a:cs typeface="Gill Sans MT"/>
              </a:rPr>
              <a:t> </a:t>
            </a:r>
            <a:r>
              <a:rPr sz="800" dirty="0">
                <a:latin typeface="Arial"/>
                <a:cs typeface="Arial"/>
              </a:rPr>
              <a:t>65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%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Working</a:t>
            </a:r>
            <a:r>
              <a:rPr spc="40" dirty="0"/>
              <a:t> </a:t>
            </a:r>
            <a:r>
              <a:rPr dirty="0"/>
              <a:t>Prototype</a:t>
            </a:r>
            <a:r>
              <a:rPr spc="45" dirty="0"/>
              <a:t> </a:t>
            </a:r>
            <a:r>
              <a:rPr spc="395" dirty="0"/>
              <a:t>/</a:t>
            </a:r>
            <a:r>
              <a:rPr spc="45" dirty="0"/>
              <a:t> </a:t>
            </a:r>
            <a:r>
              <a:rPr spc="-20" dirty="0"/>
              <a:t>Demonstration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678522"/>
            <a:ext cx="2383206" cy="256339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b="1" spc="-4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Implemented</a:t>
            </a:r>
            <a:r>
              <a:rPr sz="1200" b="1" spc="4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2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marR="8636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 Library Management and Search</a:t>
            </a:r>
          </a:p>
          <a:p>
            <a:pPr marL="314960" marR="8636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 Management using Doubly Linked List</a:t>
            </a:r>
          </a:p>
          <a:p>
            <a:pPr marL="314960" marR="8636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and Remove Songs from Playlist</a:t>
            </a:r>
          </a:p>
          <a:p>
            <a:pPr marL="314960" marR="8636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and Previous Track Navigation</a:t>
            </a:r>
          </a:p>
          <a:p>
            <a:pPr marL="314960" marR="8636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Player Controls: Play, Pause, Resume and Stop</a:t>
            </a:r>
          </a:p>
          <a:p>
            <a:pPr marL="314960" marR="86360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and Automated Testing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8822" y="1245590"/>
            <a:ext cx="2672080" cy="215265"/>
          </a:xfrm>
          <a:custGeom>
            <a:avLst/>
            <a:gdLst/>
            <a:ahLst/>
            <a:cxnLst/>
            <a:rect l="l" t="t" r="r" b="b"/>
            <a:pathLst>
              <a:path w="2672079" h="215265">
                <a:moveTo>
                  <a:pt x="262120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2672006" y="215238"/>
                </a:lnTo>
                <a:lnTo>
                  <a:pt x="2672006" y="50800"/>
                </a:lnTo>
                <a:lnTo>
                  <a:pt x="2667998" y="31075"/>
                </a:lnTo>
                <a:lnTo>
                  <a:pt x="2657083" y="14922"/>
                </a:lnTo>
                <a:lnTo>
                  <a:pt x="2640930" y="4008"/>
                </a:lnTo>
                <a:lnTo>
                  <a:pt x="262120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62607" y="749906"/>
            <a:ext cx="1310982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Prototype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245" dirty="0">
                <a:solidFill>
                  <a:srgbClr val="133768"/>
                </a:solidFill>
                <a:latin typeface="Gill Sans MT"/>
                <a:cs typeface="Gill Sans MT"/>
              </a:rPr>
              <a:t>/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 Output</a:t>
            </a:r>
            <a:endParaRPr sz="1200" dirty="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78822" y="1448180"/>
            <a:ext cx="2672080" cy="966469"/>
            <a:chOff x="2778822" y="1448180"/>
            <a:chExt cx="2672080" cy="96646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8822" y="1448180"/>
              <a:ext cx="2672006" cy="506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78822" y="1492454"/>
              <a:ext cx="2672080" cy="922019"/>
            </a:xfrm>
            <a:custGeom>
              <a:avLst/>
              <a:gdLst/>
              <a:ahLst/>
              <a:cxnLst/>
              <a:rect l="l" t="t" r="r" b="b"/>
              <a:pathLst>
                <a:path w="2672079" h="922019">
                  <a:moveTo>
                    <a:pt x="2672006" y="0"/>
                  </a:moveTo>
                  <a:lnTo>
                    <a:pt x="0" y="0"/>
                  </a:lnTo>
                  <a:lnTo>
                    <a:pt x="0" y="870926"/>
                  </a:lnTo>
                  <a:lnTo>
                    <a:pt x="4008" y="890650"/>
                  </a:lnTo>
                  <a:lnTo>
                    <a:pt x="14922" y="906803"/>
                  </a:lnTo>
                  <a:lnTo>
                    <a:pt x="31075" y="917718"/>
                  </a:lnTo>
                  <a:lnTo>
                    <a:pt x="50800" y="921726"/>
                  </a:lnTo>
                  <a:lnTo>
                    <a:pt x="2621205" y="921726"/>
                  </a:lnTo>
                  <a:lnTo>
                    <a:pt x="2640930" y="917718"/>
                  </a:lnTo>
                  <a:lnTo>
                    <a:pt x="2657083" y="906803"/>
                  </a:lnTo>
                  <a:lnTo>
                    <a:pt x="2667998" y="890650"/>
                  </a:lnTo>
                  <a:lnTo>
                    <a:pt x="2672006" y="870926"/>
                  </a:lnTo>
                  <a:lnTo>
                    <a:pt x="267200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88551" y="1758427"/>
            <a:ext cx="22517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92150" marR="5080" indent="-680085">
              <a:lnSpc>
                <a:spcPct val="102600"/>
              </a:lnSpc>
              <a:spcBef>
                <a:spcPts val="55"/>
              </a:spcBef>
            </a:pP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Insert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Arial"/>
                <a:cs typeface="Arial"/>
              </a:rPr>
              <a:t>screenshot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240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595959"/>
                </a:solidFill>
                <a:latin typeface="Arial"/>
                <a:cs typeface="Arial"/>
              </a:rPr>
              <a:t>output</a:t>
            </a:r>
            <a:r>
              <a:rPr sz="11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240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100" i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Arial"/>
                <a:cs typeface="Arial"/>
              </a:rPr>
              <a:t>prototype </a:t>
            </a:r>
            <a:r>
              <a:rPr sz="1100" i="1" spc="-70" dirty="0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sz="1100" i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Arial"/>
                <a:cs typeface="Arial"/>
              </a:rPr>
              <a:t>here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/15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00" y="1018138"/>
            <a:ext cx="3124200" cy="198417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Testing,</a:t>
            </a:r>
            <a:r>
              <a:rPr spc="105" dirty="0"/>
              <a:t> </a:t>
            </a:r>
            <a:r>
              <a:rPr dirty="0"/>
              <a:t>Results</a:t>
            </a:r>
            <a:r>
              <a:rPr spc="110" dirty="0"/>
              <a:t> </a:t>
            </a:r>
            <a:r>
              <a:rPr spc="135" dirty="0"/>
              <a:t>&amp;</a:t>
            </a:r>
            <a:r>
              <a:rPr spc="110" dirty="0"/>
              <a:t> </a:t>
            </a:r>
            <a:r>
              <a:rPr spc="-10" dirty="0"/>
              <a:t>Validation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781" y="97053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8081" y="978089"/>
            <a:ext cx="678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Test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7893" y="978089"/>
            <a:ext cx="750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Expected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2427" y="978089"/>
            <a:ext cx="7543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Observed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6941" y="978089"/>
            <a:ext cx="3111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Status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0781" y="115256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8081" y="1157857"/>
            <a:ext cx="922382" cy="13125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Music Library</a:t>
            </a:r>
          </a:p>
          <a:p>
            <a:pPr marL="12700" marR="5080">
              <a:lnSpc>
                <a:spcPts val="950"/>
              </a:lnSpc>
              <a:spcBef>
                <a:spcPts val="135"/>
              </a:spcBef>
            </a:pPr>
            <a:endParaRPr sz="800" dirty="0">
              <a:latin typeface="Arial"/>
              <a:cs typeface="Arial"/>
            </a:endParaRPr>
          </a:p>
          <a:p>
            <a:pPr marL="12700">
              <a:lnSpc>
                <a:spcPts val="810"/>
              </a:lnSpc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Song Search</a:t>
            </a:r>
          </a:p>
          <a:p>
            <a:pPr marL="12700">
              <a:lnSpc>
                <a:spcPts val="810"/>
              </a:lnSpc>
            </a:pPr>
            <a:endParaRPr lang="en-US" sz="800" i="1" dirty="0" smtClean="0">
              <a:solidFill>
                <a:srgbClr val="595959"/>
              </a:solidFill>
              <a:latin typeface="Arial"/>
              <a:cs typeface="Arial"/>
            </a:endParaRPr>
          </a:p>
          <a:p>
            <a:pPr marL="12700">
              <a:lnSpc>
                <a:spcPts val="810"/>
              </a:lnSpc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Playlist </a:t>
            </a:r>
          </a:p>
          <a:p>
            <a:pPr marL="12700">
              <a:lnSpc>
                <a:spcPts val="810"/>
              </a:lnSpc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</a:p>
          <a:p>
            <a:pPr marL="12700">
              <a:lnSpc>
                <a:spcPts val="810"/>
              </a:lnSpc>
            </a:pPr>
            <a:endParaRPr sz="800" dirty="0">
              <a:latin typeface="Arial"/>
              <a:cs typeface="Arial"/>
            </a:endParaRPr>
          </a:p>
          <a:p>
            <a:pPr marL="12700">
              <a:lnSpc>
                <a:spcPts val="844"/>
              </a:lnSpc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Track Navigation</a:t>
            </a:r>
          </a:p>
          <a:p>
            <a:pPr marL="12700">
              <a:lnSpc>
                <a:spcPts val="844"/>
              </a:lnSpc>
            </a:pPr>
            <a:endParaRPr lang="en-US" sz="800" i="1" dirty="0">
              <a:solidFill>
                <a:srgbClr val="595959"/>
              </a:solidFill>
              <a:latin typeface="Arial"/>
              <a:cs typeface="Arial"/>
            </a:endParaRPr>
          </a:p>
          <a:p>
            <a:pPr marL="12700">
              <a:lnSpc>
                <a:spcPts val="844"/>
              </a:lnSpc>
            </a:pPr>
            <a:endParaRPr lang="en-US" sz="800" i="1" dirty="0" smtClean="0">
              <a:solidFill>
                <a:srgbClr val="595959"/>
              </a:solidFill>
              <a:latin typeface="Arial"/>
              <a:cs typeface="Arial"/>
            </a:endParaRPr>
          </a:p>
          <a:p>
            <a:pPr marL="12700">
              <a:lnSpc>
                <a:spcPts val="844"/>
              </a:lnSpc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Music  Player</a:t>
            </a:r>
          </a:p>
          <a:p>
            <a:pPr marL="12700">
              <a:lnSpc>
                <a:spcPts val="844"/>
              </a:lnSpc>
            </a:pPr>
            <a:endParaRPr sz="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7911" y="1157857"/>
            <a:ext cx="142811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i="1" dirty="0">
                <a:solidFill>
                  <a:srgbClr val="595959"/>
                </a:solidFill>
                <a:latin typeface="Arial"/>
                <a:cs typeface="Arial"/>
              </a:rPr>
              <a:t>4</a:t>
            </a: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0 songs loaded successfully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2334" y="1157857"/>
            <a:ext cx="148717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Song catalog loaded</a:t>
            </a:r>
            <a:r>
              <a:rPr sz="800" i="1" spc="5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16737" y="1157857"/>
            <a:ext cx="2254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Pass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7782" y="1386229"/>
            <a:ext cx="1668780" cy="966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lang="en-US" sz="800" i="1" dirty="0">
                <a:solidFill>
                  <a:srgbClr val="595959"/>
                </a:solidFill>
                <a:latin typeface="Arial"/>
                <a:cs typeface="Arial"/>
              </a:rPr>
              <a:t>S</a:t>
            </a: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earch songs by title and artist</a:t>
            </a:r>
          </a:p>
          <a:p>
            <a:pPr marL="12700" marR="5080">
              <a:lnSpc>
                <a:spcPts val="950"/>
              </a:lnSpc>
              <a:spcBef>
                <a:spcPts val="135"/>
              </a:spcBef>
            </a:pPr>
            <a:endParaRPr sz="800" dirty="0">
              <a:latin typeface="Arial"/>
              <a:cs typeface="Arial"/>
            </a:endParaRPr>
          </a:p>
          <a:p>
            <a:pPr marL="12700">
              <a:lnSpc>
                <a:spcPts val="810"/>
              </a:lnSpc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Ad</a:t>
            </a:r>
            <a:r>
              <a:rPr sz="800" i="1" dirty="0" smtClean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r>
              <a:rPr sz="800" i="1" spc="12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800" i="1" spc="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800" i="1" spc="-10" dirty="0" smtClean="0">
                <a:solidFill>
                  <a:srgbClr val="595959"/>
                </a:solidFill>
                <a:latin typeface="Arial"/>
                <a:cs typeface="Arial"/>
              </a:rPr>
              <a:t>remove songs correctly</a:t>
            </a:r>
            <a:endParaRPr sz="800" dirty="0">
              <a:latin typeface="Arial"/>
              <a:cs typeface="Arial"/>
            </a:endParaRPr>
          </a:p>
          <a:p>
            <a:pPr marL="12700">
              <a:lnSpc>
                <a:spcPts val="900"/>
              </a:lnSpc>
            </a:pPr>
            <a:endParaRPr sz="800" dirty="0">
              <a:latin typeface="Arial"/>
              <a:cs typeface="Arial"/>
            </a:endParaRPr>
          </a:p>
          <a:p>
            <a:pPr marL="12700">
              <a:lnSpc>
                <a:spcPts val="900"/>
              </a:lnSpc>
            </a:pPr>
            <a:r>
              <a:rPr lang="en-US" sz="800" i="1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ext and previous track work correctly</a:t>
            </a:r>
            <a:endParaRPr sz="800" dirty="0">
              <a:latin typeface="Arial"/>
              <a:cs typeface="Arial"/>
            </a:endParaRPr>
          </a:p>
          <a:p>
            <a:pPr marL="12700">
              <a:lnSpc>
                <a:spcPts val="900"/>
              </a:lnSpc>
            </a:pPr>
            <a:r>
              <a:rPr sz="800" i="1" spc="-20" dirty="0" smtClean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lang="en-US" sz="800" i="1" spc="-20" dirty="0" smtClean="0">
                <a:solidFill>
                  <a:srgbClr val="595959"/>
                </a:solidFill>
                <a:latin typeface="Arial"/>
                <a:cs typeface="Arial"/>
              </a:rPr>
              <a:t>lay, pause, resume and stop states work correctly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22218" y="1386229"/>
            <a:ext cx="136017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i="1" spc="-30" dirty="0" smtClean="0">
                <a:solidFill>
                  <a:srgbClr val="595959"/>
                </a:solidFill>
                <a:latin typeface="Arial"/>
                <a:cs typeface="Arial"/>
              </a:rPr>
              <a:t>Search results displayed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6701" y="1386229"/>
            <a:ext cx="648429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50" dirty="0" smtClean="0">
                <a:latin typeface="Arial"/>
                <a:cs typeface="Arial"/>
              </a:rPr>
              <a:t>In Progress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22218" y="1614600"/>
            <a:ext cx="166814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 smtClean="0">
                <a:solidFill>
                  <a:srgbClr val="595959"/>
                </a:solidFill>
                <a:latin typeface="Arial"/>
                <a:cs typeface="Arial"/>
              </a:rPr>
              <a:t>P</a:t>
            </a: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laylist operations performed</a:t>
            </a:r>
            <a:r>
              <a:rPr sz="800" i="1" spc="1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16742" y="1614600"/>
            <a:ext cx="2254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Pass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22218" y="1842984"/>
            <a:ext cx="1668145" cy="3892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DLL navigation tested</a:t>
            </a:r>
            <a:endParaRPr lang="en-US" sz="800" i="1" spc="-10" dirty="0">
              <a:solidFill>
                <a:srgbClr val="595959"/>
              </a:solidFill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135"/>
              </a:spcBef>
            </a:pPr>
            <a:endParaRPr sz="800" dirty="0">
              <a:latin typeface="Arial"/>
              <a:cs typeface="Arial"/>
            </a:endParaRPr>
          </a:p>
          <a:p>
            <a:pPr marL="12700">
              <a:lnSpc>
                <a:spcPts val="819"/>
              </a:lnSpc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State transitions tested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16512" y="1842983"/>
            <a:ext cx="609588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50" dirty="0" smtClean="0">
                <a:latin typeface="Arial"/>
                <a:cs typeface="Arial"/>
              </a:rPr>
              <a:t>In Progres</a:t>
            </a:r>
            <a:r>
              <a:rPr sz="800" spc="-50" dirty="0" smtClean="0">
                <a:latin typeface="Arial"/>
                <a:cs typeface="Arial"/>
              </a:rPr>
              <a:t>s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16317" y="2071355"/>
            <a:ext cx="2254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Pass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0781" y="2368105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2518219"/>
            <a:ext cx="5142230" cy="215265"/>
          </a:xfrm>
          <a:custGeom>
            <a:avLst/>
            <a:gdLst/>
            <a:ahLst/>
            <a:cxnLst/>
            <a:rect l="l" t="t" r="r" b="b"/>
            <a:pathLst>
              <a:path w="5142230" h="215264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141666" y="215238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36549" y="2491652"/>
            <a:ext cx="1316406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Result/Validation</a:t>
            </a:r>
            <a:endParaRPr sz="1200" dirty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9193" y="2720809"/>
            <a:ext cx="5142230" cy="324485"/>
            <a:chOff x="309193" y="2720809"/>
            <a:chExt cx="5142230" cy="32448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2720809"/>
              <a:ext cx="5141666" cy="5060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09193" y="2765082"/>
              <a:ext cx="5142230" cy="280035"/>
            </a:xfrm>
            <a:custGeom>
              <a:avLst/>
              <a:gdLst/>
              <a:ahLst/>
              <a:cxnLst/>
              <a:rect l="l" t="t" r="r" b="b"/>
              <a:pathLst>
                <a:path w="5142230" h="280035">
                  <a:moveTo>
                    <a:pt x="5141666" y="0"/>
                  </a:moveTo>
                  <a:lnTo>
                    <a:pt x="0" y="0"/>
                  </a:lnTo>
                  <a:lnTo>
                    <a:pt x="0" y="229107"/>
                  </a:lnTo>
                  <a:lnTo>
                    <a:pt x="4008" y="248832"/>
                  </a:lnTo>
                  <a:lnTo>
                    <a:pt x="14922" y="264985"/>
                  </a:lnTo>
                  <a:lnTo>
                    <a:pt x="31075" y="275899"/>
                  </a:lnTo>
                  <a:lnTo>
                    <a:pt x="50800" y="279907"/>
                  </a:lnTo>
                  <a:lnTo>
                    <a:pt x="5090865" y="279907"/>
                  </a:lnTo>
                  <a:lnTo>
                    <a:pt x="5110590" y="275899"/>
                  </a:lnTo>
                  <a:lnTo>
                    <a:pt x="5126743" y="264985"/>
                  </a:lnTo>
                  <a:lnTo>
                    <a:pt x="5137657" y="248832"/>
                  </a:lnTo>
                  <a:lnTo>
                    <a:pt x="5141666" y="22910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34268" y="2658192"/>
            <a:ext cx="4775200" cy="40203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z="800" i="1" dirty="0" err="1" smtClean="0">
                <a:solidFill>
                  <a:srgbClr val="595959"/>
                </a:solidFill>
                <a:latin typeface="Arial"/>
                <a:cs typeface="Arial"/>
              </a:rPr>
              <a:t>SoundSync</a:t>
            </a:r>
            <a:r>
              <a:rPr lang="en-US" sz="800" i="1" dirty="0" smtClean="0">
                <a:solidFill>
                  <a:srgbClr val="595959"/>
                </a:solidFill>
                <a:latin typeface="Arial"/>
                <a:cs typeface="Arial"/>
              </a:rPr>
              <a:t> prototype includes music library management, song searching, Doubly Linked List playlist operations, track navigation, and music player state controls. Automated tests are provided to validate core OOP and DSA functionality.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" y="270888"/>
            <a:ext cx="2819401" cy="197637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3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Repository</a:t>
            </a:r>
            <a:r>
              <a:rPr sz="1100" b="1" spc="3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1100" i="1" spc="-35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https://github.com/sanyagoel02/SOUNDSYNC-.git</a:t>
            </a:r>
            <a:r>
              <a:rPr sz="1100" i="1" spc="-35" dirty="0" smtClean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hub.com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README.md:</a:t>
            </a:r>
            <a:r>
              <a:rPr sz="11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7112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Contributors: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i="1" spc="5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2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1100" i="1" spc="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7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sz="1100" i="1" spc="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sz="1100" i="1" spc="5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8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1100" i="1" spc="-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326390" indent="-177165">
              <a:lnSpc>
                <a:spcPct val="102699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Branches:</a:t>
            </a:r>
            <a:r>
              <a:rPr sz="11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65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sz="1100" i="1" spc="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75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branches</a:t>
            </a:r>
            <a:r>
              <a:rPr sz="1100" i="1" spc="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85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i="1" spc="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25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individual </a:t>
            </a:r>
            <a:r>
              <a:rPr sz="1100" i="1" spc="-4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sz="1100" i="1" spc="-2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1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3910" y="270888"/>
            <a:ext cx="2569845" cy="16681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4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</a:t>
            </a:r>
            <a:r>
              <a:rPr sz="1100" b="1" spc="4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Activity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6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commits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maintained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sz="11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visible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sz="1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1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uploaded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sz="1100" spc="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maintained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9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sz="1100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</a:t>
            </a:r>
            <a:r>
              <a:rPr sz="11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sz="1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11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302841"/>
            <a:ext cx="1934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133768"/>
                </a:solidFill>
                <a:latin typeface="Gill Sans MT"/>
                <a:cs typeface="Gill Sans MT"/>
              </a:rPr>
              <a:t>Individual</a:t>
            </a:r>
            <a:r>
              <a:rPr sz="1400" b="1" spc="7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400" b="1" spc="-20" dirty="0">
                <a:solidFill>
                  <a:srgbClr val="133768"/>
                </a:solidFill>
                <a:latin typeface="Gill Sans MT"/>
                <a:cs typeface="Gill Sans MT"/>
              </a:rPr>
              <a:t>Contribution</a:t>
            </a:r>
            <a:endParaRPr sz="1400">
              <a:latin typeface="Gill Sans MT"/>
              <a:cs typeface="Gill Sans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91620"/>
              </p:ext>
            </p:extLst>
          </p:nvPr>
        </p:nvGraphicFramePr>
        <p:xfrm>
          <a:off x="460781" y="1169187"/>
          <a:ext cx="5041264" cy="9470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2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Member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Role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Technical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Contribution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 marR="372110">
                        <a:lnSpc>
                          <a:spcPts val="950"/>
                        </a:lnSpc>
                        <a:spcBef>
                          <a:spcPts val="5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GitHub Commits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lang="en-US" sz="800" i="1" spc="-10" dirty="0" err="1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Sanya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sz="800" i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Lead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800" i="1" spc="-2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System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coordination</a:t>
                      </a:r>
                      <a:r>
                        <a:rPr sz="800" i="1" spc="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e6e4313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lang="en-US" sz="800" i="1" spc="-20" dirty="0" err="1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Manvi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Developer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lang="en-US" sz="800" i="1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lang="en-US" sz="800" i="1" baseline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Interface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4e88e55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lang="en-US" sz="800" i="1" spc="-10" dirty="0" err="1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Eshu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Developer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lang="en-US" sz="800" i="1" spc="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Playlist</a:t>
                      </a:r>
                      <a:r>
                        <a:rPr sz="800" i="1" spc="-20" dirty="0" smtClean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i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565c587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09181" y="2666885"/>
            <a:ext cx="5142230" cy="114300"/>
          </a:xfrm>
          <a:custGeom>
            <a:avLst/>
            <a:gdLst/>
            <a:ahLst/>
            <a:cxnLst/>
            <a:rect l="l" t="t" r="r" b="b"/>
            <a:pathLst>
              <a:path w="5142230" h="114300">
                <a:moveTo>
                  <a:pt x="5141671" y="44424"/>
                </a:moveTo>
                <a:lnTo>
                  <a:pt x="5140363" y="44424"/>
                </a:lnTo>
                <a:lnTo>
                  <a:pt x="5137658" y="31076"/>
                </a:lnTo>
                <a:lnTo>
                  <a:pt x="5126748" y="14922"/>
                </a:lnTo>
                <a:lnTo>
                  <a:pt x="5110594" y="4013"/>
                </a:lnTo>
                <a:lnTo>
                  <a:pt x="5090871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63360"/>
                </a:lnTo>
                <a:lnTo>
                  <a:pt x="0" y="82384"/>
                </a:lnTo>
                <a:lnTo>
                  <a:pt x="3860" y="82384"/>
                </a:lnTo>
                <a:lnTo>
                  <a:pt x="4013" y="83083"/>
                </a:lnTo>
                <a:lnTo>
                  <a:pt x="14922" y="99237"/>
                </a:lnTo>
                <a:lnTo>
                  <a:pt x="31076" y="110147"/>
                </a:lnTo>
                <a:lnTo>
                  <a:pt x="50812" y="114160"/>
                </a:lnTo>
                <a:lnTo>
                  <a:pt x="5090871" y="114160"/>
                </a:lnTo>
                <a:lnTo>
                  <a:pt x="5110594" y="110147"/>
                </a:lnTo>
                <a:lnTo>
                  <a:pt x="5126748" y="99237"/>
                </a:lnTo>
                <a:lnTo>
                  <a:pt x="5137658" y="83083"/>
                </a:lnTo>
                <a:lnTo>
                  <a:pt x="5137797" y="82384"/>
                </a:lnTo>
                <a:lnTo>
                  <a:pt x="5141671" y="82384"/>
                </a:lnTo>
                <a:lnTo>
                  <a:pt x="5141671" y="63360"/>
                </a:lnTo>
                <a:lnTo>
                  <a:pt x="5141671" y="50812"/>
                </a:lnTo>
                <a:lnTo>
                  <a:pt x="5141671" y="44424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497400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Challenges,Remaining</a:t>
            </a:r>
            <a:r>
              <a:rPr spc="120" dirty="0"/>
              <a:t> </a:t>
            </a:r>
            <a:r>
              <a:rPr spc="-65" dirty="0"/>
              <a:t>Work</a:t>
            </a:r>
            <a:r>
              <a:rPr spc="125" dirty="0"/>
              <a:t> </a:t>
            </a:r>
            <a:r>
              <a:rPr spc="135" dirty="0"/>
              <a:t>&amp;</a:t>
            </a:r>
            <a:r>
              <a:rPr spc="125" dirty="0"/>
              <a:t> </a:t>
            </a:r>
            <a:r>
              <a:rPr dirty="0"/>
              <a:t>Phase-III</a:t>
            </a:r>
            <a:r>
              <a:rPr spc="125" dirty="0"/>
              <a:t> </a:t>
            </a:r>
            <a:r>
              <a:rPr spc="-10" dirty="0"/>
              <a:t>Roadmap</a:t>
            </a:r>
          </a:p>
        </p:txBody>
      </p:sp>
      <p:sp>
        <p:nvSpPr>
          <p:cNvPr id="3" name="object 3"/>
          <p:cNvSpPr/>
          <p:nvPr/>
        </p:nvSpPr>
        <p:spPr>
          <a:xfrm>
            <a:off x="347294" y="6318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631825"/>
            <a:ext cx="2772016" cy="2412326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</a:t>
            </a:r>
            <a:r>
              <a:rPr sz="1100" b="1" spc="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Faced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marR="38671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2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song records across multiple modules.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Keeping playlist navigation and </a:t>
            </a:r>
            <a:r>
              <a:rPr lang="en-US" sz="1100" spc="-5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MusicPlayer</a:t>
            </a:r>
            <a:r>
              <a:rPr lang="en-US" sz="1100" spc="-5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states consistent</a:t>
            </a:r>
            <a:r>
              <a:rPr lang="en-US" sz="1100" spc="-5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273685" indent="-177165">
              <a:lnSpc>
                <a:spcPct val="102600"/>
              </a:lnSpc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Synchronizing track selection with playback state transitions.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indent="-177165">
              <a:lnSpc>
                <a:spcPct val="100000"/>
              </a:lnSpc>
              <a:spcBef>
                <a:spcPts val="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6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reliable song search and file operations.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b="1" spc="-2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Solutions</a:t>
            </a:r>
            <a:r>
              <a:rPr sz="1100" b="1" spc="6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b="1" spc="285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sz="1100" b="1" spc="6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14960" marR="379095" indent="-177165">
              <a:lnSpc>
                <a:spcPct val="102600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separate header and implementation files for modular programming.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604520" indent="-177165">
              <a:lnSpc>
                <a:spcPct val="102600"/>
              </a:lnSpc>
              <a:spcBef>
                <a:spcPts val="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encapsulation and getter methods in the Song class.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0657" y="624968"/>
            <a:ext cx="2354390" cy="16866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Phase-</a:t>
            </a:r>
            <a:r>
              <a:rPr sz="1100" b="1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</a:t>
            </a:r>
            <a:r>
              <a:rPr sz="1100" b="1" spc="17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Roadmap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9560" marR="21590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lang="en-US" sz="1100" spc="-4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file handling and error handling.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255270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lang="en-US" sz="11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playlist management and track navigation.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256540" indent="-177165">
              <a:lnSpc>
                <a:spcPct val="102600"/>
              </a:lnSpc>
              <a:spcBef>
                <a:spcPts val="1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lang="en-US" sz="1100" spc="-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spc="-4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ntegrate MP3 decoding and actual audio playback.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0195" indent="-177800">
              <a:lnSpc>
                <a:spcPct val="100000"/>
              </a:lnSpc>
              <a:spcBef>
                <a:spcPts val="13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project documentation and final demonstration.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Expected</a:t>
            </a:r>
            <a:r>
              <a:rPr spc="55" dirty="0"/>
              <a:t> </a:t>
            </a:r>
            <a:r>
              <a:rPr spc="-20" dirty="0"/>
              <a:t>Outcomes</a:t>
            </a:r>
            <a:r>
              <a:rPr spc="60" dirty="0"/>
              <a:t> </a:t>
            </a:r>
            <a:r>
              <a:rPr spc="135" dirty="0"/>
              <a:t>&amp;</a:t>
            </a:r>
            <a:r>
              <a:rPr spc="55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347294" y="746315"/>
            <a:ext cx="2078406" cy="21715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pc="-20" dirty="0"/>
              <a:t>Expected</a:t>
            </a:r>
            <a:r>
              <a:rPr dirty="0"/>
              <a:t> Final</a:t>
            </a:r>
            <a:r>
              <a:rPr spc="5" dirty="0"/>
              <a:t> </a:t>
            </a:r>
            <a:r>
              <a:rPr spc="-10" dirty="0"/>
              <a:t>Outcomes</a:t>
            </a:r>
          </a:p>
          <a:p>
            <a:pPr marL="314960" marR="17335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b="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 </a:t>
            </a:r>
            <a:r>
              <a:rPr lang="en-US" b="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private data and provides getters.</a:t>
            </a:r>
            <a:r>
              <a:rPr sz="1100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15049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b="0" spc="-5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MusicLibrary</a:t>
            </a:r>
            <a:r>
              <a:rPr lang="en-US" b="0" spc="-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0" spc="-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b="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::vector&lt;Song&gt; and linear search.</a:t>
            </a:r>
            <a:r>
              <a:rPr sz="1100" b="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448309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b="0" spc="-7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 </a:t>
            </a:r>
            <a:r>
              <a:rPr lang="en-US" b="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adding, removing, and navigating </a:t>
            </a:r>
            <a:r>
              <a:rPr lang="en-US" b="0" spc="-7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songs</a:t>
            </a:r>
            <a:r>
              <a:rPr sz="1100" b="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4960" marR="30480" indent="-177165">
              <a:lnSpc>
                <a:spcPct val="102600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b="0" spc="-35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MusicPlayer</a:t>
            </a:r>
            <a:r>
              <a:rPr lang="en-US" b="0" spc="-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stopped, playing, and paused </a:t>
            </a:r>
            <a:r>
              <a:rPr lang="en-US" b="0" spc="-3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states.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xfrm>
            <a:off x="2959101" y="678522"/>
            <a:ext cx="2514600" cy="194803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</a:t>
            </a:r>
            <a:r>
              <a:rPr lang="en-US" sz="1100" b="1" spc="-10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erences</a:t>
            </a:r>
            <a:endParaRPr sz="1100" b="1" spc="-10" dirty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9560" marR="50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lang="en-US"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Bjarne </a:t>
            </a:r>
            <a:r>
              <a:rPr lang="en-US" sz="1100" spc="-1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Stroustrup</a:t>
            </a:r>
            <a:r>
              <a:rPr lang="en-US"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C++ Programming Language, Addison-Wesley, 2013</a:t>
            </a: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9560" marR="50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cppreference.com</a:t>
            </a:r>
            <a:r>
              <a:rPr lang="en-US"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C++ Language and Standard Library Reference</a:t>
            </a: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9560" marR="50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lang="en-US" sz="1100" spc="-1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Data Structures and Algorithms</a:t>
            </a: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9560" marR="50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lang="en-US" sz="1100" spc="-1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Miniaudio</a:t>
            </a:r>
            <a:r>
              <a:rPr lang="en-US" sz="1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Single-File Audio Playback and Capture Library</a:t>
            </a:r>
            <a:r>
              <a:rPr lang="en-US" sz="1100" spc="-1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100" b="0" spc="-1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 rot="10800000" flipV="1">
            <a:off x="3263899" y="2689225"/>
            <a:ext cx="2136089" cy="335989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marL="46355" algn="ctr">
              <a:lnSpc>
                <a:spcPts val="1275"/>
              </a:lnSpc>
            </a:pPr>
            <a:r>
              <a:rPr sz="1100" b="1" dirty="0">
                <a:solidFill>
                  <a:srgbClr val="FFFFFF"/>
                </a:solidFill>
                <a:latin typeface="Gill Sans MT"/>
                <a:cs typeface="Gill Sans MT"/>
              </a:rPr>
              <a:t>Thank</a:t>
            </a:r>
            <a:r>
              <a:rPr sz="1100" b="1" spc="-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Gill Sans MT"/>
                <a:cs typeface="Gill Sans MT"/>
              </a:rPr>
              <a:t>You</a:t>
            </a:r>
            <a:endParaRPr sz="1100">
              <a:latin typeface="Gill Sans MT"/>
              <a:cs typeface="Gill Sans MT"/>
            </a:endParaRPr>
          </a:p>
          <a:p>
            <a:pPr marL="45720" algn="ctr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10" dirty="0"/>
              <a:t>/15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5284</TotalTime>
  <Words>1292</Words>
  <Application>Microsoft Office PowerPoint</Application>
  <PresentationFormat>Custom</PresentationFormat>
  <Paragraphs>260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MT</vt:lpstr>
      <vt:lpstr>Calibri</vt:lpstr>
      <vt:lpstr>Gill Sans MT</vt:lpstr>
      <vt:lpstr>Lucida Sans Unicode</vt:lpstr>
      <vt:lpstr>Tahoma</vt:lpstr>
      <vt:lpstr>Times New Roman</vt:lpstr>
      <vt:lpstr>Trebuchet MS</vt:lpstr>
      <vt:lpstr>Office Theme</vt:lpstr>
      <vt:lpstr>PROJECT-BASED LEARNING</vt:lpstr>
      <vt:lpstr>Team &amp; Mentor Details</vt:lpstr>
      <vt:lpstr>Phase-I Recap &amp; Feedback Incorporated</vt:lpstr>
      <vt:lpstr>Problem Statement &amp; Finalized Objectives</vt:lpstr>
      <vt:lpstr>Updated System Architecture / Workflow</vt:lpstr>
      <vt:lpstr>Module Design &amp; Functional Requirements</vt:lpstr>
      <vt:lpstr>Technology Stack &amp; Development Methodology</vt:lpstr>
      <vt:lpstr>PowerPoint Presentation</vt:lpstr>
      <vt:lpstr>PowerPoint Presentation</vt:lpstr>
      <vt:lpstr>Working Prototype / Demonstration</vt:lpstr>
      <vt:lpstr>Testing, Results &amp; Validation</vt:lpstr>
      <vt:lpstr>PowerPoint Presentation</vt:lpstr>
      <vt:lpstr>PowerPoint Presentation</vt:lpstr>
      <vt:lpstr>Challenges,Remaining Work &amp; Phase-III Roadmap</vt:lpstr>
      <vt:lpstr>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 Evaluation</dc:title>
  <dc:creator>Project TitleTeam ID: XXXX</dc:creator>
  <cp:lastModifiedBy>USER</cp:lastModifiedBy>
  <cp:revision>49</cp:revision>
  <dcterms:created xsi:type="dcterms:W3CDTF">2026-09-06T06:37:52Z</dcterms:created>
  <dcterms:modified xsi:type="dcterms:W3CDTF">2026-10-21T17:01:04Z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2026-08-29T00:00:00Z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2026-09-06T00:00:00Z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